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Тема работы — как гиперпараметры физически информированной нейросети влияют на решение уравнения Бюргерса. Результаты получены на 276 реальных прогонах 99 конфигураций в библиотеке DeepXDE.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Уравнение описывает вязкую жидкость. Синусоида со временем опрокидывается, и из-за малой вязкости в x = 0 образуется почти разрыв. Это классический сложный тест для PINN: гладкой сети трудно изобразить ступеньку.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Сеть получает координаты точки и выдаёт значение решения. Производные считаются автоматическим дифференцированием, из них собирается невязка уравнения. Функция потерь — сумма квадратов невязок уравнения, граничного и начального условий; оптимизатор её минимизирует.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Базовая конфигурация взята из примера DeepXDE. Все остальные эксперименты — отклонения от неё. Результат сильно зависит от случайного начального состояния: разброс от 0.44 до 13.7 процента, поэтому каждая конфигурация запускалась трижды, и сравнение идёт по среднему геометрическому.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Вне разрыва ошибка порядка десяти в минус третьей: гладкую часть сеть решает почти точно. Во втором запуске L-BFGS остановился через 4 шага, и ошибка выросла в 30 раз. Это явление — срыв L-BFGS — дальше встречается во многих экспериментах.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Во всех вариантах по 20 нейронов в слое, tanh, Glorot normal, Adam → L-BFGS. 2, 3, 4 и 6 слоёв — по три запуска, вертикальная черта на графике — разброс; ¹ — один запуск. Глубина даёт сети больше вложенных нелинейностей, необходимых для изображения крутого фронта.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Двигаясь вниз по столбцу 20 нейронов, ошибка падает с 4.5 до 0.5 процента. Двигаясь вправо по строке 3 слоя, почти ничего не меняется. Один слой (28 процентов) и пять нейронов (27 процентов) в таблицу не вошли — они не решают задачу вовсе.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Таблица в формате перебора конфигураций: ошибка, точность и время по этапам обучения. Время Adam растёт с размером сети почти пропорционально, время L-BFGS зависит ещё и от числа шагов до сходимости.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функцию потерь входит вторая производная сети, поэтому активация должна быть дважды непрерывно дифференцируемой — класса C². У ReLU вторая производная почти везде равна нулю. LAAF — адаптивная активация с обучаемой крутизной. tanh, LAAF и sigmoid — по 3 запуска, остальные — по одному; Glorot normal, 3 × 20, Adam → L-BFGS.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Карты |u − u*| для одного запуска (seed 1). У sigmoid в этом запуске L-BFGS остановился через 2 шага. У sin видны волнистые полосы: периодическая функция плохо описывает непериодическое решение. ReLU не может представить вторую производную и фактически решает другое уравнение.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Двадцать сочетаний по три запуска. Glorot подбирает масштаб весов под tanh, He — под ReLU. sigmoid не симметрична относительно нуля, и при малых начальных весах сеть почти линейна; более крупные веса He выводят её в нелинейный режим. sin и SiLU остаются хуже tanh при любой схеме. Нулевые веса проверены с tanh: все нейроны слоя получают одинаковые градиенты и остаются копиями друг друга.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Сеть соблюдает уравнение только в точках коллокации, и при малом их числе фронт проваливается между ними. 2540 точек примера — нижняя граница, на которой задача решается. Удвоение даёт выигрыш в 14 раз. Граничные точки проверены отдельно: 20 точек дают 5.3 процента, 320 — 4.2 процента со срывами L-BFGS; при t = 0 от 40 до 640 точек — 2.0–2.2 процента.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Карты |u − u*| для одного запуска (seed 1) в логарифмической шкале от десяти в минус четвёртой до единицы. Чем плотнее точки, тем уже полоса, где сеть может нарушать уравнение незаметно для функции потерь.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Во всех вариантах 2540 точек. Квазислучайные последовательности — Sobol, Halton, Hammersley — заполняют область равномерно без регулярности. Пересэмплирование — новый набор случайных точек каждые 1000 итераций. RAR — три раунда добавления 100 точек с наибольшей невязкой, как в примере Burgers_RAR.py. ¹ — один запуск, остальные — по три.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Adam и другие методы первого порядка надёжно стартуют, но около минимума застревают: даже 50 тысяч итераций Adam дают 13 процентов. L-BFGS использует приближение кривизны и быстро сходится, если начать недалеко от решения. NNCG — метод второго порядка из оригинального примера — добавляет три минуты без выигрыша.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Один запуск (seed 1) для каждой схемы, пунктир — переход на L-BFGS на 15 000-й итерации. В подписях указана ошибка этого запуска: Adam → L-BFGS 0.44 процента, SGD → L-BFGS 0.39, только L-BFGS 0.73, только Adam 15 и 13 процентов. Только L-BFGS на этом seed сошёлся хорошо, но в среднем по трём запускам даёт 3.1 процента.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Двадцать сочетаний по три запуска, инициализация Glorot normal, сеть 3 × 20. Столбец «только Adam» худший для tanh, sin и sigmoid. Для SiLU и GELU все варианты одинаково плохи: этап L-BFGS нужен, но неудачную активацию он не исправляет.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«+ L-BFGS» и «только Adam, 15 000» — по три запуска, остальные «только Adam» — по одному. Длительность Adam перед L-BFGS влияет слабо: 2–15 тысяч итераций в пределах разброса, заметно лучше только 30 тысяч. До сходимости L-BFGS делает 7–8 тысяч шагов, это около 25 секунд. Шаг Adam проверен на одном seed: 0.29–0.44 процента для 1e-4, 1e-3 и 1e-2.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Остановкой считается завершение L-BFGS менее чем за 200 шагов. В одинарной точности ошибки округления создают видимость сходимости. Такие прогоны дают медианную ошибку 11.6 процента против 2 у остальных; в подсчёт не включены ReLU, ELU и нулевые веса. Документация DeepXDE рекомендует в этом случае двойную точность, и эксперимент это подтверждает.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комбинированных конфигурациях меняется сразу несколько параметров. Ошибку меньше 1 процента дают только конфигурации на tanh или LAAF-tanh с Glorot uniform и 4–6 слоями. Лучшая — шесть слоёв и 30 тысяч итераций Adam: 0.15 процента стабильно по трём запускам. Последняя строка объединяет sigmoid GU 4×20 (15 процентов), ELU He normal (44) и ReLU He normal (65): во всех их запусках L-BFGS остановился сразу.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Срез решения при t = 0.75 на участке x от −0.6 до 0.6, один запуск (seed 1). Каждый тип неудачной конфигурации ошибается по-своему: нехватка точек смещает фронт, нехватка глубины искажает его форму, неподходящая активация не позволяет решить уравнение. Базовая модель на этом масштабе совпадает с эталоном.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Для каждого параметра взято отношение ошибки худшего варианта к лучшему внутри группы. Пунктирная линия — разброс между запусками базовой модели на 10 seed без остановок L-BFGS. Параметры левее линии на практике тонут в этом разбросе. Звёздочка у инициализации — без нулевых весов.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Каждая точка графика — одна из 99 конфигураций, ошибка — среднее по запускам, время — оценка по замеру на одном потоке CPU Apple M4. Базовая конфигурация быстрая, но по точности находится в середине облака. Есть и более быстрый вариант без потери точности: 2000 итераций Adam вместо 15 000 дают 0.95 процента за 34 секунды.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Итог по одиннадцати параметрам. В трёх пример оптимален: активация, шаги L-BFGS и граничные точки. Шаг и инициализация не влияют. Число точек, глубина, расстановка и точность вычислений можно улучшить с выигрышем в разы при умеренных затратах времени.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Основные результаты работы. Рекомендуемая на практике конфигурация объединяет найденные улучшения: tanh, Glorot uniform, четыре слоя по двадцать нейронов, 5000 точек Sobol, Adam → L-BFGS в двойной точности. Как единая конфигурация она не прогонялась.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660400"/>
            <a:ext cx="10566400" cy="37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600" dirty="0">
                <a:solidFill>
                  <a:srgbClr val="1F3864"/>
                </a:solidFill>
                <a:latin typeface="PT Sans" pitchFamily="34" charset="0"/>
                <a:ea typeface="PT Sans" pitchFamily="34" charset="-122"/>
                <a:cs typeface="PT Sans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344910"/>
            <a:ext cx="10566400" cy="4700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F2933"/>
                </a:solidFill>
                <a:latin typeface="PT Sans" pitchFamily="34" charset="0"/>
                <a:ea typeface="PT Sans" pitchFamily="34" charset="-122"/>
                <a:cs typeface="PT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660400"/>
            <a:ext cx="10566400" cy="37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600" dirty="0">
                <a:solidFill>
                  <a:srgbClr val="1F3864"/>
                </a:solidFill>
                <a:latin typeface="PT Sans" pitchFamily="34" charset="0"/>
                <a:ea typeface="PT Sans" pitchFamily="34" charset="-122"/>
                <a:cs typeface="PT Sans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344910"/>
            <a:ext cx="10566400" cy="4700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F2933"/>
                </a:solidFill>
                <a:latin typeface="PT Sans" pitchFamily="34" charset="0"/>
                <a:ea typeface="PT Sans" pitchFamily="34" charset="-122"/>
                <a:cs typeface="PT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812800"/>
            <a:ext cx="104648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5A627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Физически информированные нейронные сети (PINN)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1016000" y="2063304"/>
            <a:ext cx="10464800" cy="1220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704"/>
              </a:lnSpc>
              <a:buNone/>
            </a:pPr>
            <a:r>
              <a:rPr lang="en-US" sz="4200" b="1" i="0" dirty="0">
                <a:solidFill>
                  <a:srgbClr val="1F386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Анализ гиперпараметров PINN</a:t>
            </a:r>
            <a:endParaRPr lang="en-US" sz="4200" dirty="0"/>
          </a:p>
          <a:p>
            <a:pPr algn="l" indent="0" marL="0">
              <a:lnSpc>
                <a:spcPts val="4704"/>
              </a:lnSpc>
              <a:buNone/>
            </a:pPr>
            <a:r>
              <a:rPr lang="en-US" sz="4200" b="1" i="0" dirty="0">
                <a:solidFill>
                  <a:srgbClr val="1F386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для уравнения Бюргерса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016000" y="3486696"/>
            <a:ext cx="915670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3E4651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Влияние архитектуры сети, функции активации, инициализации весов, точек коллокации и оптимизаторов на точность решения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16000" y="5092700"/>
            <a:ext cx="253807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Выполнил:</a:t>
            </a:r>
            <a:r>
              <a:rPr lang="en-US" sz="1500" dirty="0">
                <a:solidFill>
                  <a:srgbClr val="1F293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Горщенко Д. В.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16000" y="5435600"/>
            <a:ext cx="253807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Группа:</a:t>
            </a:r>
            <a:r>
              <a:rPr lang="en-US" sz="1500" dirty="0">
                <a:solidFill>
                  <a:srgbClr val="1F293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М8О-205СВ-25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16000" y="5778500"/>
            <a:ext cx="295697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Преподаватель:</a:t>
            </a:r>
            <a:r>
              <a:rPr lang="en-US" sz="1500" dirty="0">
                <a:solidFill>
                  <a:srgbClr val="1F293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Стрижак С. В.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677604" y="5778500"/>
            <a:ext cx="49839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A627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660400"/>
            <a:ext cx="10883392" cy="371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19"/>
              </a:lnSpc>
              <a:buNone/>
            </a:pPr>
            <a:r>
              <a:rPr lang="en-US" sz="2364" b="1" i="0" dirty="0">
                <a:solidFill>
                  <a:srgbClr val="1F386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Постановка задачи</a:t>
            </a:r>
            <a:endParaRPr lang="en-US" sz="2364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222127"/>
          <a:ext cx="10553700" cy="1406227"/>
        </p:xfrm>
        <a:graphic>
          <a:graphicData uri="http://schemas.openxmlformats.org/drawingml/2006/table">
            <a:tbl>
              <a:tblPr/>
              <a:tblGrid>
                <a:gridCol w="3166110"/>
                <a:gridCol w="7387590"/>
              </a:tblGrid>
              <a:tr h="351532">
                <a:tc>
                  <a:txBody>
                    <a:bodyPr/>
                    <a:lstStyle/>
                    <a:p>
                      <a:pPr indent="0" marL="0">
                        <a:lnSpc>
                          <a:spcPts val="1776"/>
                        </a:lnSpc>
                        <a:buNone/>
                      </a:pPr>
                      <a:r>
                        <a:rPr lang="en-US" sz="1269" b="1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Элемент</a:t>
                      </a:r>
                      <a:endParaRPr lang="en-US" sz="1269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6396" marR="56396" marT="56396" marB="56396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76"/>
                        </a:lnSpc>
                        <a:buNone/>
                      </a:pPr>
                      <a:r>
                        <a:rPr lang="en-US" sz="1269" b="1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Запись</a:t>
                      </a:r>
                      <a:endParaRPr lang="en-US" sz="1269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6396" marR="56396" marT="56396" marB="56396" anchor="t">
                    <a:lnL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51532">
                <a:tc>
                  <a:txBody>
                    <a:bodyPr/>
                    <a:lstStyle/>
                    <a:p>
                      <a:pPr indent="0" marL="0">
                        <a:lnSpc>
                          <a:spcPts val="1776"/>
                        </a:lnSpc>
                        <a:buNone/>
                      </a:pPr>
                      <a:r>
                        <a:rPr lang="en-US" sz="1269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Уравнение Бюргерса</a:t>
                      </a:r>
                      <a:endParaRPr lang="en-US" sz="1269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6396" marR="56396" marT="56396" marB="56396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76"/>
                        </a:lnSpc>
                        <a:buNone/>
                      </a:pPr>
                      <a:r>
                        <a:rPr lang="en-US" sz="1269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uₜ + u·uₓ = ν·uₓₓ, ν = 0.01/π, x ∈ [−1, 1], t ∈ [0, 0.99]</a:t>
                      </a:r>
                      <a:endParaRPr lang="en-US" sz="1269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6396" marR="56396" marT="56396" marB="56396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1582">
                <a:tc>
                  <a:txBody>
                    <a:bodyPr/>
                    <a:lstStyle/>
                    <a:p>
                      <a:pPr indent="0" marL="0">
                        <a:lnSpc>
                          <a:spcPts val="1776"/>
                        </a:lnSpc>
                        <a:buNone/>
                      </a:pPr>
                      <a:r>
                        <a:rPr lang="en-US" sz="1269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Начальное условие</a:t>
                      </a:r>
                      <a:endParaRPr lang="en-US" sz="1269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6396" marR="56396" marT="56396" marB="56396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76"/>
                        </a:lnSpc>
                        <a:buNone/>
                      </a:pPr>
                      <a:r>
                        <a:rPr lang="en-US" sz="1269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u(x, 0) = −sin(πx)</a:t>
                      </a:r>
                      <a:endParaRPr lang="en-US" sz="1269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6396" marR="56396" marT="56396" marB="56396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51582">
                <a:tc>
                  <a:txBody>
                    <a:bodyPr/>
                    <a:lstStyle/>
                    <a:p>
                      <a:pPr indent="0" marL="0">
                        <a:lnSpc>
                          <a:spcPts val="1776"/>
                        </a:lnSpc>
                        <a:buNone/>
                      </a:pPr>
                      <a:r>
                        <a:rPr lang="en-US" sz="1269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Граничные условия</a:t>
                      </a:r>
                      <a:endParaRPr lang="en-US" sz="1269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6396" marR="56396" marT="56396" marB="56396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776"/>
                        </a:lnSpc>
                        <a:buNone/>
                      </a:pPr>
                      <a:r>
                        <a:rPr lang="en-US" sz="1269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u(−1, t) = u(1, t) = 0</a:t>
                      </a:r>
                      <a:endParaRPr lang="en-US" sz="1269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6396" marR="56396" marT="56396" marB="56396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4" name="Image 0" descr="Эталонное решение уравнения Бюргерса: тепловая карта u(x,t) и срезы при t = 0, 0.25, 0.5, 0.75; к t ≈ 0.4 в точке x = 0 формируется почти разрыв">    </p:cNvPr>
          <p:cNvPicPr>
            <a:picLocks noChangeAspect="1"/>
          </p:cNvPicPr>
          <p:nvPr/>
        </p:nvPicPr>
        <p:blipFill>
          <a:blip r:embed="rId1"/>
          <a:srcRect l="-21536" r="-21536" t="0" b="0"/>
          <a:stretch/>
        </p:blipFill>
        <p:spPr>
          <a:xfrm>
            <a:off x="812800" y="2831554"/>
            <a:ext cx="10566400" cy="266030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12800" y="5695057"/>
            <a:ext cx="10883392" cy="2358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2"/>
              </a:lnSpc>
              <a:buNone/>
            </a:pPr>
            <a:r>
              <a:rPr lang="en-US" sz="1194" dirty="0">
                <a:solidFill>
                  <a:srgbClr val="3E4651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Эталон — численное решение Burgers.npz (сетка 256 × 100). Малая вязкость приводит к образованию крутого фронта в x = 0.</a:t>
            </a:r>
            <a:endParaRPr lang="en-US" sz="1194" dirty="0"/>
          </a:p>
        </p:txBody>
      </p:sp>
      <p:pic>
        <p:nvPicPr>
          <p:cNvPr id="6" name="Image 1" descr="lin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2800" y="6096000"/>
            <a:ext cx="10566400" cy="127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12800" y="62890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27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Анализ гиперпараметров PINN для уравнения Бюргерса</a:t>
            </a:r>
            <a:endParaRPr lang="en-US" sz="1200" dirty="0"/>
          </a:p>
        </p:txBody>
      </p:sp>
      <p:sp>
        <p:nvSpPr>
          <p:cNvPr id="8" name="Text 3"/>
          <p:cNvSpPr/>
          <p:nvPr/>
        </p:nvSpPr>
        <p:spPr>
          <a:xfrm>
            <a:off x="10058400" y="62890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27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2 / 25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660400"/>
            <a:ext cx="10883392" cy="405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90"/>
              </a:lnSpc>
              <a:buNone/>
            </a:pPr>
            <a:r>
              <a:rPr lang="en-US" sz="2600" b="1" i="0" dirty="0">
                <a:solidFill>
                  <a:srgbClr val="1F386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Метод PINN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19150" y="1437283"/>
            <a:ext cx="1755130" cy="870545"/>
          </a:xfrm>
          <a:prstGeom prst="rect">
            <a:avLst/>
          </a:prstGeom>
          <a:noFill/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3300" y="1621433"/>
            <a:ext cx="143763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F386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Вход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03300" y="1900833"/>
            <a:ext cx="1437630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3E4651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координаты (x, t)</a:t>
            </a:r>
            <a:endParaRPr lang="en-US" sz="1300" dirty="0"/>
          </a:p>
        </p:txBody>
      </p:sp>
      <p:pic>
        <p:nvPicPr>
          <p:cNvPr id="6" name="Image 0" descr="connecto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656830" y="1821755"/>
            <a:ext cx="279400" cy="1016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018780" y="1437283"/>
            <a:ext cx="1755180" cy="870545"/>
          </a:xfrm>
          <a:prstGeom prst="rect">
            <a:avLst/>
          </a:prstGeom>
          <a:noFill/>
          <a:ln w="12700">
            <a:solidFill>
              <a:srgbClr val="1F386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2930" y="1621433"/>
            <a:ext cx="143768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F386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Нейросеть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3202930" y="1900833"/>
            <a:ext cx="1437680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3E4651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выдаёт u(x, t)</a:t>
            </a:r>
            <a:endParaRPr lang="en-US" sz="1300" dirty="0"/>
          </a:p>
        </p:txBody>
      </p:sp>
      <p:pic>
        <p:nvPicPr>
          <p:cNvPr id="10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56510" y="1821755"/>
            <a:ext cx="279400" cy="1016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218460" y="1325860"/>
            <a:ext cx="1755130" cy="1093391"/>
          </a:xfrm>
          <a:prstGeom prst="rect">
            <a:avLst/>
          </a:prstGeom>
          <a:noFill/>
          <a:ln w="12700">
            <a:solidFill>
              <a:srgbClr val="1F3864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402610" y="1510010"/>
            <a:ext cx="143763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F386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Производные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402610" y="1789410"/>
            <a:ext cx="1437630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3E4651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uₜ, uₓ, uₓₓ автодиф­ференцированием</a:t>
            </a:r>
            <a:endParaRPr lang="en-US" sz="1300" dirty="0"/>
          </a:p>
        </p:txBody>
      </p:sp>
      <p:pic>
        <p:nvPicPr>
          <p:cNvPr id="14" name="Image 2" descr="connector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056140" y="1821755"/>
            <a:ext cx="279400" cy="10160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7418090" y="1325860"/>
            <a:ext cx="1755130" cy="1093391"/>
          </a:xfrm>
          <a:prstGeom prst="rect">
            <a:avLst/>
          </a:prstGeom>
          <a:noFill/>
          <a:ln w="12700">
            <a:solidFill>
              <a:srgbClr val="1F3864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7602240" y="1510010"/>
            <a:ext cx="143763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F386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Потери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7602240" y="1789410"/>
            <a:ext cx="1437630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3E4651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невязки уравнения и условий</a:t>
            </a:r>
            <a:endParaRPr lang="en-US" sz="1300" dirty="0"/>
          </a:p>
        </p:txBody>
      </p:sp>
      <p:pic>
        <p:nvPicPr>
          <p:cNvPr id="18" name="Image 3" descr="connector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255770" y="1821755"/>
            <a:ext cx="279400" cy="10160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9617720" y="1325860"/>
            <a:ext cx="1755130" cy="1093391"/>
          </a:xfrm>
          <a:prstGeom prst="rect">
            <a:avLst/>
          </a:prstGeom>
          <a:noFill/>
          <a:ln w="12700">
            <a:solidFill>
              <a:srgbClr val="1F3864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9801870" y="1510010"/>
            <a:ext cx="143763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F386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Оптимизатор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9801870" y="1789410"/>
            <a:ext cx="1437630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3E4651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обновляет веса сети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812800" y="2705001"/>
            <a:ext cx="10566400" cy="571500"/>
          </a:xfrm>
          <a:prstGeom prst="rect">
            <a:avLst/>
          </a:prstGeom>
          <a:solidFill>
            <a:srgbClr val="F2F4F7"/>
          </a:solidFill>
          <a:ln/>
        </p:spPr>
        <p:txBody>
          <a:bodyPr wrap="square" lIns="203200" tIns="152400" rIns="0" bIns="12700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 = MSE(невязка уравнения) + MSE(невязка граничного условия) + MSE(невязка начального условия) → min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812800" y="3555901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Исследуемые гиперпараметры: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891032" y="3893691"/>
            <a:ext cx="1079754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5768" indent="-17576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архитектура: число скрытых слоёв и нейронов, функция активации, инициализация весов;</a:t>
            </a:r>
            <a:endParaRPr lang="en-US" sz="1400" dirty="0"/>
          </a:p>
          <a:p>
            <a:pPr algn="l" marL="175768" indent="-17576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точки коллокации: число, расстановка, пересэмплирование;</a:t>
            </a:r>
            <a:endParaRPr lang="en-US" sz="1400" dirty="0"/>
          </a:p>
          <a:p>
            <a:pPr algn="l" marL="175768" indent="-17576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обучение: оптимизатор, число итераций, шаг, точность вычислений (float32 / float64).</a:t>
            </a:r>
            <a:endParaRPr lang="en-US" sz="1400" dirty="0"/>
          </a:p>
        </p:txBody>
      </p:sp>
      <p:pic>
        <p:nvPicPr>
          <p:cNvPr id="25" name="Image 4" descr="line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12800" y="6096000"/>
            <a:ext cx="10566400" cy="127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812800" y="62890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27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Анализ гиперпараметров PINN для уравнения Бюргерса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10058400" y="62890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27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3 / 25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660400"/>
            <a:ext cx="10883392" cy="405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90"/>
              </a:lnSpc>
              <a:buNone/>
            </a:pPr>
            <a:r>
              <a:rPr lang="en-US" sz="2600" b="1" i="0" dirty="0">
                <a:solidFill>
                  <a:srgbClr val="1F386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Базовая конфигурация и методика</a:t>
            </a:r>
            <a:endParaRPr lang="en-US" sz="2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256010"/>
          <a:ext cx="5702300" cy="2874566"/>
        </p:xfrm>
        <a:graphic>
          <a:graphicData uri="http://schemas.openxmlformats.org/drawingml/2006/table">
            <a:tbl>
              <a:tblPr/>
              <a:tblGrid>
                <a:gridCol w="2566035"/>
                <a:gridCol w="3136265"/>
              </a:tblGrid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Параметр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Пример DeepXDE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Архитектура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[20] × 3, 921 параметр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Активация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tanh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Инициализация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Glorot normal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Точки коллокации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2540 + 80 (граница) + 160 (t = 0)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Расстановка точек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Hammersley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Оптимизация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Adam (15 000 ит., lr = 1e-3) → L-BFGS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Результат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L2 = 2.1 % (0.44–13.7 %), ≈ 55 с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883400" y="1243310"/>
            <a:ext cx="463067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Методика эксперимента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975094" y="1593800"/>
            <a:ext cx="4531360" cy="1758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2306" indent="-16230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99 конфигураций, 276 прогонов</a:t>
            </a:r>
            <a:endParaRPr lang="en-US" sz="1300" dirty="0"/>
          </a:p>
          <a:p>
            <a:pPr algn="l" marL="162306" indent="-16230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62 конфигурации — изменён один параметр, 37 — комбинации</a:t>
            </a:r>
            <a:endParaRPr lang="en-US" sz="1300" dirty="0"/>
          </a:p>
          <a:p>
            <a:pPr algn="l" marL="162306" indent="-16230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80 конфигураций — по 3 запуска с разным seed</a:t>
            </a:r>
            <a:endParaRPr lang="en-US" sz="1300" dirty="0"/>
          </a:p>
          <a:p>
            <a:pPr algn="l" marL="162306" indent="-16230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метрика: относительная L2-ошибка на сетке 256 × 100</a:t>
            </a:r>
            <a:endParaRPr lang="en-US" sz="1300" dirty="0"/>
          </a:p>
          <a:p>
            <a:pPr algn="l" marL="162306" indent="-16230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статус ✓ — ошибка меньше 1 %</a:t>
            </a:r>
            <a:endParaRPr lang="en-US" sz="1300" dirty="0"/>
          </a:p>
          <a:p>
            <a:pPr algn="l" marL="162306" indent="-16230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время: 1 поток CPU Apple M4</a:t>
            </a:r>
            <a:endParaRPr lang="en-US" sz="1300" dirty="0"/>
          </a:p>
        </p:txBody>
      </p:sp>
      <p:pic>
        <p:nvPicPr>
          <p:cNvPr id="6" name="Image 0" descr="lin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6096000"/>
            <a:ext cx="10566400" cy="127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12800" y="62890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27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Анализ гиперпараметров PINN для уравнения Бюргерса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0058400" y="62890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27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4 / 25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660400"/>
            <a:ext cx="10883392" cy="405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90"/>
              </a:lnSpc>
              <a:buNone/>
            </a:pPr>
            <a:r>
              <a:rPr lang="en-US" sz="2600" b="1" i="0" dirty="0">
                <a:solidFill>
                  <a:srgbClr val="1F386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Решение базовой моделью</a:t>
            </a:r>
            <a:endParaRPr lang="en-US" sz="2600" dirty="0"/>
          </a:p>
        </p:txBody>
      </p:sp>
      <p:pic>
        <p:nvPicPr>
          <p:cNvPr id="3" name="Image 0" descr="Тепловые карты: эталон, решение PINN базовой модели (seed 1, L2 = 0.44 %) и модуль ошибки; ошибка сосредоточена в тонкой полосе x ≈ 0 при t больше 0.4">    </p:cNvPr>
          <p:cNvPicPr>
            <a:picLocks noChangeAspect="1"/>
          </p:cNvPicPr>
          <p:nvPr/>
        </p:nvPicPr>
        <p:blipFill>
          <a:blip r:embed="rId1"/>
          <a:srcRect l="-6426" r="-6426" t="0" b="0"/>
          <a:stretch/>
        </p:blipFill>
        <p:spPr>
          <a:xfrm>
            <a:off x="812800" y="1243310"/>
            <a:ext cx="10566400" cy="2413000"/>
          </a:xfrm>
          <a:prstGeom prst="rect">
            <a:avLst/>
          </a:prstGeom>
        </p:spPr>
      </p:pic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3872210"/>
          <a:ext cx="10553700" cy="1437283"/>
        </p:xfrm>
        <a:graphic>
          <a:graphicData uri="http://schemas.openxmlformats.org/drawingml/2006/table">
            <a:tbl>
              <a:tblPr/>
              <a:tblGrid>
                <a:gridCol w="2638425"/>
                <a:gridCol w="2638425"/>
                <a:gridCol w="2638425"/>
                <a:gridCol w="2638425"/>
              </a:tblGrid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Запуск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L2-ошибка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Макс. |ошибка|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Шагов L-BFGS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seed 1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0.44 %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0.06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7946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seed 2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13.7 %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1.32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4 (остановка)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seed 3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1.5 %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0.15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7438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812800" y="5512693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Вывод.</a:t>
            </a:r>
            <a:r>
              <a:rPr lang="en-US" sz="1400" dirty="0">
                <a:solidFill>
                  <a:srgbClr val="1F293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Ошибка сосредоточена на разрыве; результат определяется тем, сошёлся ли L-BFGS.</a:t>
            </a:r>
            <a:endParaRPr lang="en-US" sz="1400" dirty="0"/>
          </a:p>
        </p:txBody>
      </p:sp>
      <p:pic>
        <p:nvPicPr>
          <p:cNvPr id="6" name="Image 1" descr="lin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2800" y="6096000"/>
            <a:ext cx="10566400" cy="127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12800" y="62890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27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Анализ гиперпараметров PINN для уравнения Бюргерса</a:t>
            </a:r>
            <a:endParaRPr lang="en-US" sz="1200" dirty="0"/>
          </a:p>
        </p:txBody>
      </p:sp>
      <p:sp>
        <p:nvSpPr>
          <p:cNvPr id="8" name="Text 3"/>
          <p:cNvSpPr/>
          <p:nvPr/>
        </p:nvSpPr>
        <p:spPr>
          <a:xfrm>
            <a:off x="10058400" y="62890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27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5 / 25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660400"/>
            <a:ext cx="10883392" cy="405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90"/>
              </a:lnSpc>
              <a:buNone/>
            </a:pPr>
            <a:r>
              <a:rPr lang="en-US" sz="2600" b="1" i="0" dirty="0">
                <a:solidFill>
                  <a:srgbClr val="1F386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Глубина сети: точность и стоимость</a:t>
            </a:r>
            <a:endParaRPr lang="en-US" sz="2600" dirty="0"/>
          </a:p>
        </p:txBody>
      </p:sp>
      <p:pic>
        <p:nvPicPr>
          <p:cNvPr id="3" name="Image 0" descr="Слева: L2-ошибка от числа скрытых слоёв по 20 нейронов: 1 слой — 28 %, 2 — 4.5 %, 3 — 2.1 %, 4 — 0.66 %, 6 — 0.51 %, 8 — 0.49 %. Справа: стоимость одной итерации растёт от 1.0 до 6.0 мс">    </p:cNvPr>
          <p:cNvPicPr>
            <a:picLocks noChangeAspect="1"/>
          </p:cNvPicPr>
          <p:nvPr/>
        </p:nvPicPr>
        <p:blipFill>
          <a:blip r:embed="rId1"/>
          <a:srcRect l="0" r="0" t="-13072" b="-13072"/>
          <a:stretch/>
        </p:blipFill>
        <p:spPr>
          <a:xfrm>
            <a:off x="812800" y="1243310"/>
            <a:ext cx="6985000" cy="3302000"/>
          </a:xfrm>
          <a:prstGeom prst="rect">
            <a:avLst/>
          </a:prstGeom>
        </p:spPr>
      </p:pic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64500" y="1256010"/>
          <a:ext cx="3314700" cy="2328763"/>
        </p:xfrm>
        <a:graphic>
          <a:graphicData uri="http://schemas.openxmlformats.org/drawingml/2006/table">
            <a:tbl>
              <a:tblPr/>
              <a:tblGrid>
                <a:gridCol w="795528"/>
                <a:gridCol w="861822"/>
                <a:gridCol w="861822"/>
                <a:gridCol w="795528"/>
              </a:tblGrid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Слоёв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L2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мс/ит.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мин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1 ¹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28 %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1.0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0.27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2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4.5 %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1.7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0.68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3 (база)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2.1 %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2.4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0.91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4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0.66 %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3.1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1.04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6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0.51 %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4.5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1.40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8 ¹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0.49 %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6.0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2.01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812800" y="4748510"/>
            <a:ext cx="1088339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Вывод.</a:t>
            </a:r>
            <a:r>
              <a:rPr lang="en-US" sz="1400" dirty="0">
                <a:solidFill>
                  <a:srgbClr val="1F293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Переход с 3 на 4 слоя снижает ошибку в 3 раза при росте времени на 13 %. После 6 слоёв точность не растёт, а стоимость итерации увеличивается линейно.</a:t>
            </a:r>
            <a:endParaRPr lang="en-US" sz="1400" dirty="0"/>
          </a:p>
        </p:txBody>
      </p:sp>
      <p:pic>
        <p:nvPicPr>
          <p:cNvPr id="6" name="Image 1" descr="lin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2800" y="6096000"/>
            <a:ext cx="10566400" cy="127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12800" y="62890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27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Анализ гиперпараметров PINN для уравнения Бюргерса</a:t>
            </a:r>
            <a:endParaRPr lang="en-US" sz="1200" dirty="0"/>
          </a:p>
        </p:txBody>
      </p:sp>
      <p:sp>
        <p:nvSpPr>
          <p:cNvPr id="8" name="Text 3"/>
          <p:cNvSpPr/>
          <p:nvPr/>
        </p:nvSpPr>
        <p:spPr>
          <a:xfrm>
            <a:off x="10058400" y="62890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27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6 / 25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660400"/>
            <a:ext cx="10883392" cy="405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90"/>
              </a:lnSpc>
              <a:buNone/>
            </a:pPr>
            <a:r>
              <a:rPr lang="en-US" sz="2600" b="1" i="0" dirty="0">
                <a:solidFill>
                  <a:srgbClr val="1F386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Архитектура: число слоёв и нейронов</a:t>
            </a:r>
            <a:endParaRPr lang="en-US" sz="2600" dirty="0"/>
          </a:p>
        </p:txBody>
      </p:sp>
      <p:pic>
        <p:nvPicPr>
          <p:cNvPr id="3" name="Image 0" descr="Две тепловые таблицы 4 × 3: слои 2, 3, 4, 6 по строкам, нейроны 10, 20, 40 по столбцам. Ошибка: 2 слоя — 10 %, 4.5 %, 5.3 %; 3 слоя — 5 %, 2.1 %, 1.9 %; 4 слоя — 2 %, 0.66 %, 0.62 %; 6 слоёв — 6.5 %, 0.51 %, 0.63 %. Стоимость итерации от 1.4 до 9.3 мс">    </p:cNvPr>
          <p:cNvPicPr>
            <a:picLocks noChangeAspect="1"/>
          </p:cNvPicPr>
          <p:nvPr/>
        </p:nvPicPr>
        <p:blipFill>
          <a:blip r:embed="rId1"/>
          <a:srcRect l="-2059" r="-2059" t="0" b="0"/>
          <a:stretch/>
        </p:blipFill>
        <p:spPr>
          <a:xfrm>
            <a:off x="812800" y="1243310"/>
            <a:ext cx="10566400" cy="3683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12800" y="5129510"/>
            <a:ext cx="1088339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Вывод.</a:t>
            </a:r>
            <a:r>
              <a:rPr lang="en-US" sz="1400" dirty="0">
                <a:solidFill>
                  <a:srgbClr val="1F293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Глубина важнее ширины: ошибка меньше 1 % достигается только при 4–6 слоях по 20–40 нейронов. Сеть 6 × 10 не обучается — L-BFGS останавливается во всех запусках.</a:t>
            </a:r>
            <a:endParaRPr lang="en-US" sz="1400" dirty="0"/>
          </a:p>
        </p:txBody>
      </p:sp>
      <p:pic>
        <p:nvPicPr>
          <p:cNvPr id="5" name="Image 1" descr="lin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2800" y="6096000"/>
            <a:ext cx="10566400" cy="127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2800" y="62890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27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Анализ гиперпараметров PINN для уравнения Бюргерса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10058400" y="62890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27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7 / 25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660400"/>
            <a:ext cx="10883392" cy="405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90"/>
              </a:lnSpc>
              <a:buNone/>
            </a:pPr>
            <a:r>
              <a:rPr lang="en-US" sz="2600" b="1" i="0" dirty="0">
                <a:solidFill>
                  <a:srgbClr val="1F386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Результаты перебора архитектур</a:t>
            </a:r>
            <a:endParaRPr lang="en-US" sz="2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256010"/>
          <a:ext cx="10553700" cy="3593207"/>
        </p:xfrm>
        <a:graphic>
          <a:graphicData uri="http://schemas.openxmlformats.org/drawingml/2006/table">
            <a:tbl>
              <a:tblPr/>
              <a:tblGrid>
                <a:gridCol w="2110740"/>
                <a:gridCol w="1266444"/>
                <a:gridCol w="1371981"/>
                <a:gridCol w="1371981"/>
                <a:gridCol w="1371981"/>
                <a:gridCol w="1371981"/>
                <a:gridCol w="1688592"/>
              </a:tblGrid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Архитектура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L2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Точность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Adam, с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L-BFGS, с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Всего, мин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Статус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[20] × 2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4.5 %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95.5 %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26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14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0.68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✗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[20] × 3 (база)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2.1 %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97.9 %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37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18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0.91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✗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[40] × 3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1.9 %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98.1 %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64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24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1.47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✗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[80] × 3 ¹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0.71 %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99.3 %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123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89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3.53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✓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[20] × 4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0.66 %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99.3 %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46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16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1.04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✓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[40] × 4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0.62 %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99.4 %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90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37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2.12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✓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[20] × 6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0.51 %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99.5 %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68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16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1.40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✓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[40] × 6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0.63 %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99.4 %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140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44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3.06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✓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[20] × 8 ¹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0.49 %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99.5 %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90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30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2.01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✓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5052417"/>
            <a:ext cx="1088339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E4651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L2 — среднее по 3 запускам; ¹ — один запуск; точность = 100 % − L2; ✓ — L2 &lt; 1 %.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812800" y="5486747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Вывод.</a:t>
            </a:r>
            <a:r>
              <a:rPr lang="en-US" sz="1400" dirty="0">
                <a:solidFill>
                  <a:srgbClr val="1F293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Оптимальный баланс — [20] × 4: ошибка 0.66 % за 1 мин, в 3 раза точнее базовой при +13 % времени.</a:t>
            </a:r>
            <a:endParaRPr lang="en-US" sz="1400" dirty="0"/>
          </a:p>
        </p:txBody>
      </p:sp>
      <p:pic>
        <p:nvPicPr>
          <p:cNvPr id="6" name="Image 0" descr="lin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6096000"/>
            <a:ext cx="10566400" cy="127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12800" y="62890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27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Анализ гиперпараметров PINN для уравнения Бюргерса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0058400" y="62890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27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8 / 25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660400"/>
            <a:ext cx="10883392" cy="405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90"/>
              </a:lnSpc>
              <a:buNone/>
            </a:pPr>
            <a:r>
              <a:rPr lang="en-US" sz="2600" b="1" i="0" dirty="0">
                <a:solidFill>
                  <a:srgbClr val="1F386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Функции активации</a:t>
            </a:r>
            <a:endParaRPr lang="en-US" sz="2600" dirty="0"/>
          </a:p>
        </p:txBody>
      </p:sp>
      <p:pic>
        <p:nvPicPr>
          <p:cNvPr id="3" name="Image 0" descr="Столбцы L2-ошибки по функциям активации: tanh 2.1 %, LAAF-5 tanh 2.0 %, sigmoid 8.8 %, SiLU 20 %, GELU 22 %, sin 7.6 %, ELU 42 %, ReLU 65 %">    </p:cNvPr>
          <p:cNvPicPr>
            <a:picLocks noChangeAspect="1"/>
          </p:cNvPicPr>
          <p:nvPr/>
        </p:nvPicPr>
        <p:blipFill>
          <a:blip r:embed="rId1"/>
          <a:srcRect l="0" r="0" t="-12835" b="-12835"/>
          <a:stretch/>
        </p:blipFill>
        <p:spPr>
          <a:xfrm>
            <a:off x="812800" y="1243310"/>
            <a:ext cx="6858000" cy="3429000"/>
          </a:xfrm>
          <a:prstGeom prst="rect">
            <a:avLst/>
          </a:prstGeom>
        </p:spPr>
      </p:pic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37500" y="1256010"/>
          <a:ext cx="3441700" cy="3233886"/>
        </p:xfrm>
        <a:graphic>
          <a:graphicData uri="http://schemas.openxmlformats.org/drawingml/2006/table">
            <a:tbl>
              <a:tblPr/>
              <a:tblGrid>
                <a:gridCol w="1720850"/>
                <a:gridCol w="860425"/>
                <a:gridCol w="860425"/>
              </a:tblGrid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Функция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L2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C²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tanh (база)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2.1 %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да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LAAF-5 tanh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2.0 %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да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sin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7.6 %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да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sigmoid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8.8 %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да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SiLU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20 %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да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GELU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22 %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да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ELU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42 %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нет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ReLU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65 %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нет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812800" y="4875510"/>
            <a:ext cx="1088339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Вывод.</a:t>
            </a:r>
            <a:r>
              <a:rPr lang="en-US" sz="1400" dirty="0">
                <a:solidFill>
                  <a:srgbClr val="1F293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tanh — лучшая активация; адаптивная LAAF не даёт выигрыша. ReLU и ELU не имеют непрерывной второй производной и уравнение не решают.</a:t>
            </a:r>
            <a:endParaRPr lang="en-US" sz="1400" dirty="0"/>
          </a:p>
        </p:txBody>
      </p:sp>
      <p:pic>
        <p:nvPicPr>
          <p:cNvPr id="6" name="Image 1" descr="lin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2800" y="6096000"/>
            <a:ext cx="10566400" cy="127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12800" y="62890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27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Анализ гиперпараметров PINN для уравнения Бюргерса</a:t>
            </a:r>
            <a:endParaRPr lang="en-US" sz="1200" dirty="0"/>
          </a:p>
        </p:txBody>
      </p:sp>
      <p:sp>
        <p:nvSpPr>
          <p:cNvPr id="8" name="Text 3"/>
          <p:cNvSpPr/>
          <p:nvPr/>
        </p:nvSpPr>
        <p:spPr>
          <a:xfrm>
            <a:off x="10058400" y="62890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27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9 / 25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660400"/>
            <a:ext cx="10883392" cy="405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90"/>
              </a:lnSpc>
              <a:buNone/>
            </a:pPr>
            <a:r>
              <a:rPr lang="en-US" sz="2600" b="1" i="0" dirty="0">
                <a:solidFill>
                  <a:srgbClr val="1F386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Распределение ошибки при разных активациях</a:t>
            </a:r>
            <a:endParaRPr lang="en-US" sz="2600" dirty="0"/>
          </a:p>
        </p:txBody>
      </p:sp>
      <p:pic>
        <p:nvPicPr>
          <p:cNvPr id="3" name="Image 0" descr="Карты модуля ошибки по всей области в логарифмической шкале: tanh 0.44 % — ошибка только у разрыва; sigmoid 18 % — ошибка по всей области; sin 7.6 % — волнистые полосы ошибки; ReLU 65 % — большая ошибка всюду">    </p:cNvPr>
          <p:cNvPicPr>
            <a:picLocks noChangeAspect="1"/>
          </p:cNvPicPr>
          <p:nvPr/>
        </p:nvPicPr>
        <p:blipFill>
          <a:blip r:embed="rId1"/>
          <a:srcRect l="-3218" r="-3218" t="0" b="0"/>
          <a:stretch/>
        </p:blipFill>
        <p:spPr>
          <a:xfrm>
            <a:off x="812800" y="1243310"/>
            <a:ext cx="10566400" cy="2730500"/>
          </a:xfrm>
          <a:prstGeom prst="rect">
            <a:avLst/>
          </a:prstGeom>
        </p:spPr>
      </p:pic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4189710"/>
          <a:ext cx="10553700" cy="949771"/>
        </p:xfrm>
        <a:graphic>
          <a:graphicData uri="http://schemas.openxmlformats.org/drawingml/2006/table">
            <a:tbl>
              <a:tblPr/>
              <a:tblGrid>
                <a:gridCol w="2638425"/>
                <a:gridCol w="2638425"/>
                <a:gridCol w="2638425"/>
                <a:gridCol w="2638425"/>
              </a:tblGrid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tanh — 0.44 %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sigmoid — 18 %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sin — 7.6 %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ReLU — 65 %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9045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ошибка в узкой полосе у разрыва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остановка L-BFGS, ошибка во всей области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волнистые полосы ошибки в гладкой части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uₓₓ = 0, уравнение не решается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5" name="Image 1" descr="lin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2800" y="6096000"/>
            <a:ext cx="10566400" cy="1270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812800" y="62890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27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Анализ гиперпараметров PINN для уравнения Бюргерса</a:t>
            </a:r>
            <a:endParaRPr lang="en-US" sz="1200" dirty="0"/>
          </a:p>
        </p:txBody>
      </p:sp>
      <p:sp>
        <p:nvSpPr>
          <p:cNvPr id="7" name="Text 2"/>
          <p:cNvSpPr/>
          <p:nvPr/>
        </p:nvSpPr>
        <p:spPr>
          <a:xfrm>
            <a:off x="10058400" y="62890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27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10 / 25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660400"/>
            <a:ext cx="10883392" cy="405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90"/>
              </a:lnSpc>
              <a:buNone/>
            </a:pPr>
            <a:r>
              <a:rPr lang="en-US" sz="2600" b="1" i="0" dirty="0">
                <a:solidFill>
                  <a:srgbClr val="1F386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Активация и инициализация весов</a:t>
            </a:r>
            <a:endParaRPr lang="en-US" sz="2600" dirty="0"/>
          </a:p>
        </p:txBody>
      </p:sp>
      <p:pic>
        <p:nvPicPr>
          <p:cNvPr id="3" name="Image 0" descr="Тепловая таблица 5 × 4: строки tanh, sin, sigmoid, SiLU, GELU; столбцы Glorot normal, Glorot uniform, He normal, He uniform. tanh: 2.1, 2.1, 1.8, 1.0 %. sin: 7.6, 9.3, 8.4, 12 %. sigmoid: 8.8, 2.0, 1.1, 0.51 %. SiLU: 20, 11, 15, 10 %. GELU: 22, 22, 5.9, 9.3 %">    </p:cNvPr>
          <p:cNvPicPr>
            <a:picLocks noChangeAspect="1"/>
          </p:cNvPicPr>
          <p:nvPr/>
        </p:nvPicPr>
        <p:blipFill>
          <a:blip r:embed="rId1"/>
          <a:srcRect l="-37273" r="-37273" t="0" b="0"/>
          <a:stretch/>
        </p:blipFill>
        <p:spPr>
          <a:xfrm>
            <a:off x="812800" y="1243310"/>
            <a:ext cx="10566400" cy="3302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12800" y="4748510"/>
            <a:ext cx="1088339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Вывод.</a:t>
            </a:r>
            <a:r>
              <a:rPr lang="en-US" sz="1400" dirty="0">
                <a:solidFill>
                  <a:srgbClr val="1F293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Для tanh схема инициализации не влияет (1.0–2.1 %, в пределах разброса). Для sigmoid она решающая: He uniform снижает ошибку с 8.8 до 0.51 %. Нулевые начальные веса сеть не обучают (100 %).</a:t>
            </a:r>
            <a:endParaRPr lang="en-US" sz="1400" dirty="0"/>
          </a:p>
        </p:txBody>
      </p:sp>
      <p:pic>
        <p:nvPicPr>
          <p:cNvPr id="5" name="Image 1" descr="lin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2800" y="6096000"/>
            <a:ext cx="10566400" cy="127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2800" y="62890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27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Анализ гиперпараметров PINN для уравнения Бюргерса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10058400" y="62890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27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11 / 25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660400"/>
            <a:ext cx="10883392" cy="405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90"/>
              </a:lnSpc>
              <a:buNone/>
            </a:pPr>
            <a:r>
              <a:rPr lang="en-US" sz="2600" b="1" i="0" dirty="0">
                <a:solidFill>
                  <a:srgbClr val="1F386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Число точек коллокации</a:t>
            </a:r>
            <a:endParaRPr lang="en-US" sz="2600" dirty="0"/>
          </a:p>
        </p:txBody>
      </p:sp>
      <p:pic>
        <p:nvPicPr>
          <p:cNvPr id="3" name="Image 0" descr="Слева: L2-ошибка от числа точек внутри области: 250 — 16 %, 500 — 17 %, 1000 — 9.5 %, 2540 — 2.1 %, 5000 — 0.15 %, 10000 — 0.09 %. Справа: стоимость итерации от 1.4 до 8.7 мс">    </p:cNvPr>
          <p:cNvPicPr>
            <a:picLocks noChangeAspect="1"/>
          </p:cNvPicPr>
          <p:nvPr/>
        </p:nvPicPr>
        <p:blipFill>
          <a:blip r:embed="rId1"/>
          <a:srcRect l="-5862" r="-5862" t="0" b="0"/>
          <a:stretch/>
        </p:blipFill>
        <p:spPr>
          <a:xfrm>
            <a:off x="812800" y="1243310"/>
            <a:ext cx="10566400" cy="3556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12800" y="5002510"/>
            <a:ext cx="1088339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Вывод.</a:t>
            </a:r>
            <a:r>
              <a:rPr lang="en-US" sz="1400" dirty="0">
                <a:solidFill>
                  <a:srgbClr val="1F293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5000 точек дают 0.15 % — в 14 раз точнее базовой за 1.8 мин вместо 0.9, без срывов L-BFGS. Число точек на границе (80) и при t = 0 (160) выбрано удачно: их изменение не улучшает результат.</a:t>
            </a:r>
            <a:endParaRPr lang="en-US" sz="1400" dirty="0"/>
          </a:p>
        </p:txBody>
      </p:sp>
      <p:pic>
        <p:nvPicPr>
          <p:cNvPr id="5" name="Image 1" descr="lin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2800" y="6096000"/>
            <a:ext cx="10566400" cy="127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2800" y="62890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27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Анализ гиперпараметров PINN для уравнения Бюргерса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10058400" y="62890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27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12 / 25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660400"/>
            <a:ext cx="10883392" cy="405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90"/>
              </a:lnSpc>
              <a:buNone/>
            </a:pPr>
            <a:r>
              <a:rPr lang="en-US" sz="2600" b="1" i="0" dirty="0">
                <a:solidFill>
                  <a:srgbClr val="1F386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Распределение ошибки при разном числе точек</a:t>
            </a:r>
            <a:endParaRPr lang="en-US" sz="2600" dirty="0"/>
          </a:p>
        </p:txBody>
      </p:sp>
      <p:pic>
        <p:nvPicPr>
          <p:cNvPr id="3" name="Image 0" descr="Карты модуля ошибки по всей области в логарифмической шкале: 250 точек 16 % — ошибка у фронта и полосы по всей области; 1000 точек 2.6 %; 2540 точек 0.44 %; 5000 точек 0.18 % — ошибка почти только на линии разрыва">    </p:cNvPr>
          <p:cNvPicPr>
            <a:picLocks noChangeAspect="1"/>
          </p:cNvPicPr>
          <p:nvPr/>
        </p:nvPicPr>
        <p:blipFill>
          <a:blip r:embed="rId1"/>
          <a:srcRect l="-3218" r="-3218" t="0" b="0"/>
          <a:stretch/>
        </p:blipFill>
        <p:spPr>
          <a:xfrm>
            <a:off x="812800" y="1243310"/>
            <a:ext cx="10566400" cy="2730500"/>
          </a:xfrm>
          <a:prstGeom prst="rect">
            <a:avLst/>
          </a:prstGeom>
        </p:spPr>
      </p:pic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4189710"/>
          <a:ext cx="10553700" cy="949771"/>
        </p:xfrm>
        <a:graphic>
          <a:graphicData uri="http://schemas.openxmlformats.org/drawingml/2006/table">
            <a:tbl>
              <a:tblPr/>
              <a:tblGrid>
                <a:gridCol w="2638425"/>
                <a:gridCol w="2638425"/>
                <a:gridCol w="2638425"/>
                <a:gridCol w="2638425"/>
              </a:tblGrid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250 точек — 16 %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1000 точек — 2.6 %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2540 точек — 0.44 %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5000 точек — 0.18 %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9045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фронт смещён, ошибка во всей области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форма верная, фронт размыт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ошибка в узкой полосе у разрыва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ошибка только на линии разрыва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5" name="Image 1" descr="lin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2800" y="6096000"/>
            <a:ext cx="10566400" cy="1270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812800" y="62890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27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Анализ гиперпараметров PINN для уравнения Бюргерса</a:t>
            </a:r>
            <a:endParaRPr lang="en-US" sz="1200" dirty="0"/>
          </a:p>
        </p:txBody>
      </p:sp>
      <p:sp>
        <p:nvSpPr>
          <p:cNvPr id="7" name="Text 2"/>
          <p:cNvSpPr/>
          <p:nvPr/>
        </p:nvSpPr>
        <p:spPr>
          <a:xfrm>
            <a:off x="10058400" y="62890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27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13 / 25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660400"/>
            <a:ext cx="10883392" cy="405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90"/>
              </a:lnSpc>
              <a:buNone/>
            </a:pPr>
            <a:r>
              <a:rPr lang="en-US" sz="2600" b="1" i="0" dirty="0">
                <a:solidFill>
                  <a:srgbClr val="1F386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Расстановка точек коллокации</a:t>
            </a:r>
            <a:endParaRPr lang="en-US" sz="2600" dirty="0"/>
          </a:p>
        </p:txBody>
      </p:sp>
      <p:pic>
        <p:nvPicPr>
          <p:cNvPr id="3" name="Image 0" descr="Три расстановки 2540 точек: случайная с пустотами и сгущениями, Hammersley — равномерная без регулярности, сетка — регулярные столбцы">    </p:cNvPr>
          <p:cNvPicPr>
            <a:picLocks noChangeAspect="1"/>
          </p:cNvPicPr>
          <p:nvPr/>
        </p:nvPicPr>
        <p:blipFill>
          <a:blip r:embed="rId1"/>
          <a:srcRect l="-18074" r="-18074" t="0" b="0"/>
          <a:stretch/>
        </p:blipFill>
        <p:spPr>
          <a:xfrm>
            <a:off x="812800" y="1243310"/>
            <a:ext cx="10566400" cy="2095500"/>
          </a:xfrm>
          <a:prstGeom prst="rect">
            <a:avLst/>
          </a:prstGeom>
        </p:spPr>
      </p:pic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3554710"/>
          <a:ext cx="10553700" cy="1211362"/>
        </p:xfrm>
        <a:graphic>
          <a:graphicData uri="http://schemas.openxmlformats.org/drawingml/2006/table">
            <a:tbl>
              <a:tblPr/>
              <a:tblGrid>
                <a:gridCol w="1688592"/>
                <a:gridCol w="1055370"/>
                <a:gridCol w="1055370"/>
                <a:gridCol w="1055370"/>
                <a:gridCol w="1266444"/>
                <a:gridCol w="1266444"/>
                <a:gridCol w="1055370"/>
                <a:gridCol w="1266444"/>
                <a:gridCol w="844296"/>
              </a:tblGrid>
              <a:tr h="54600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Способ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Sobol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Halton ¹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LHS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Hammersley (база)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Hammersley + RAR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случайные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случайные + пересэмпл.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сетка ¹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L2, среднее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0.28 %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1.1 %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1.6 %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2.1 %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2.9 %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5.2 %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2.6 %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12 %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разброс, %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0.15–0.41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—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0.81–5.7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0.44–13.7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0.64–13.5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1.4–15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2.1–3.1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—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812800" y="4969272"/>
            <a:ext cx="1088339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Вывод.</a:t>
            </a:r>
            <a:r>
              <a:rPr lang="en-US" sz="1400" dirty="0">
                <a:solidFill>
                  <a:srgbClr val="1F293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Sobol в 7 раз точнее Hammersley и стабилен во всех запусках. Пересэмплирование вдвое улучшает случайные точки; RAR выигрыша не дал.</a:t>
            </a:r>
            <a:endParaRPr lang="en-US" sz="1400" dirty="0"/>
          </a:p>
        </p:txBody>
      </p:sp>
      <p:pic>
        <p:nvPicPr>
          <p:cNvPr id="6" name="Image 1" descr="lin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2800" y="6096000"/>
            <a:ext cx="10566400" cy="127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12800" y="62890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27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Анализ гиперпараметров PINN для уравнения Бюргерса</a:t>
            </a:r>
            <a:endParaRPr lang="en-US" sz="1200" dirty="0"/>
          </a:p>
        </p:txBody>
      </p:sp>
      <p:sp>
        <p:nvSpPr>
          <p:cNvPr id="8" name="Text 3"/>
          <p:cNvSpPr/>
          <p:nvPr/>
        </p:nvSpPr>
        <p:spPr>
          <a:xfrm>
            <a:off x="10058400" y="62890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27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14 / 25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660400"/>
            <a:ext cx="10883392" cy="405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90"/>
              </a:lnSpc>
              <a:buNone/>
            </a:pPr>
            <a:r>
              <a:rPr lang="en-US" sz="2600" b="1" i="0" dirty="0">
                <a:solidFill>
                  <a:srgbClr val="1F386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Оптимизаторы</a:t>
            </a:r>
            <a:endParaRPr lang="en-US" sz="2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256010"/>
          <a:ext cx="10553700" cy="3326805"/>
        </p:xfrm>
        <a:graphic>
          <a:graphicData uri="http://schemas.openxmlformats.org/drawingml/2006/table">
            <a:tbl>
              <a:tblPr/>
              <a:tblGrid>
                <a:gridCol w="2955036"/>
                <a:gridCol w="1160907"/>
                <a:gridCol w="1583055"/>
                <a:gridCol w="1160907"/>
                <a:gridCol w="1371981"/>
                <a:gridCol w="1160907"/>
                <a:gridCol w="1160907"/>
              </a:tblGrid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Схема обучения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L2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Разброс, %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Adam, с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L-BFGS, с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Всего, мин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Статус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RMSprop → L-BFGS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0.90 %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0.16–2.2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40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20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1.00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✓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Adam → L-BFGS (база)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2.1 %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0.44–13.7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37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18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0.91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✗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Adam → L-BFGS → NNCG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2.0 %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0.47–10.9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37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196 ²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3.88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✗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SGD → L-BFGS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2.7 %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0.39–10.2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35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18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0.88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✗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AdamW → L-BFGS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3.0 %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0.47–13.7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37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10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0.77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✗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только L-BFGS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3.1 %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0.73–12.7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0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22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0.37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✗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Adam со спадом lr → L-BFGS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9.2 %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5.7–14.9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36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0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0.61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✗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только Adam, 15 000 ит.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9.3 %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4.0–14.7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39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—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0.65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✗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только Adam, 50 000 ит. ¹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13 %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—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130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—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2.17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✗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4786015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E4651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L2 — среднее по 3 запускам; ¹ — один запуск; ² — L-BFGS и 1000 итераций NNCG.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12800" y="5202535"/>
            <a:ext cx="1088339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Вывод.</a:t>
            </a:r>
            <a:r>
              <a:rPr lang="en-US" sz="1400" dirty="0">
                <a:solidFill>
                  <a:srgbClr val="1F293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Этап L-BFGS обязателен: без него ошибка 9–13 %. Лучший первый этап — RMSprop (0.90 %). Спад шага Adam приводит к остановке L-BFGS во всех запусках.</a:t>
            </a:r>
            <a:endParaRPr lang="en-US" sz="1400" dirty="0"/>
          </a:p>
        </p:txBody>
      </p:sp>
      <p:pic>
        <p:nvPicPr>
          <p:cNvPr id="6" name="Image 0" descr="lin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6096000"/>
            <a:ext cx="10566400" cy="127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12800" y="62890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27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Анализ гиперпараметров PINN для уравнения Бюргерса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0058400" y="62890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27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15 / 25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660400"/>
            <a:ext cx="10883392" cy="405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90"/>
              </a:lnSpc>
              <a:buNone/>
            </a:pPr>
            <a:r>
              <a:rPr lang="en-US" sz="2600" b="1" i="0" dirty="0">
                <a:solidFill>
                  <a:srgbClr val="1F386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Динамика обучения</a:t>
            </a:r>
            <a:endParaRPr lang="en-US" sz="2600" dirty="0"/>
          </a:p>
        </p:txBody>
      </p:sp>
      <p:pic>
        <p:nvPicPr>
          <p:cNvPr id="3" name="Image 0" descr="Кривые суммарных потерь: только Adam застревает около 10⁻³ даже за 50 000 итераций; после перехода на L-BFGS на 15 000-й итерации потери падают до 10⁻⁵; только L-BFGS снижает потери до 10⁻⁵ за 10 000 шагов; SGD до перехода почти не обучается">    </p:cNvPr>
          <p:cNvPicPr>
            <a:picLocks noChangeAspect="1"/>
          </p:cNvPicPr>
          <p:nvPr/>
        </p:nvPicPr>
        <p:blipFill>
          <a:blip r:embed="rId1"/>
          <a:srcRect l="-16409" r="-16409" t="0" b="0"/>
          <a:stretch/>
        </p:blipFill>
        <p:spPr>
          <a:xfrm>
            <a:off x="812800" y="1243310"/>
            <a:ext cx="10566400" cy="3683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12800" y="5129510"/>
            <a:ext cx="1088339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Вывод.</a:t>
            </a:r>
            <a:r>
              <a:rPr lang="en-US" sz="1400" dirty="0">
                <a:solidFill>
                  <a:srgbClr val="1F293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Adam снижает потери до 10⁻³ и дальше колеблется; переход на L-BFGS даёт ещё два порядка. Первый этап лишь выводит сеть из случайного начального состояния — даже после SGD L-BFGS находит хорошее решение.</a:t>
            </a:r>
            <a:endParaRPr lang="en-US" sz="1400" dirty="0"/>
          </a:p>
        </p:txBody>
      </p:sp>
      <p:pic>
        <p:nvPicPr>
          <p:cNvPr id="5" name="Image 1" descr="lin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2800" y="6096000"/>
            <a:ext cx="10566400" cy="127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2800" y="62890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27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Анализ гиперпараметров PINN для уравнения Бюргерса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10058400" y="62890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27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16 / 25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660400"/>
            <a:ext cx="10883392" cy="405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90"/>
              </a:lnSpc>
              <a:buNone/>
            </a:pPr>
            <a:r>
              <a:rPr lang="en-US" sz="2600" b="1" i="0" dirty="0">
                <a:solidFill>
                  <a:srgbClr val="1F386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Активация и оптимизатор</a:t>
            </a:r>
            <a:endParaRPr lang="en-US" sz="2600" dirty="0"/>
          </a:p>
        </p:txBody>
      </p:sp>
      <p:pic>
        <p:nvPicPr>
          <p:cNvPr id="3" name="Image 0" descr="Тепловая таблица 5 × 4: строки tanh, sin, sigmoid, SiLU, GELU; столбцы Adam → L-BFGS, RMSprop → L-BFGS, AdamW → L-BFGS, только Adam. tanh: 2.1, 0.9, 3.0, 9.3 %. sin: 7.6, 7.6, 11, 16 %. sigmoid: 8.8, 4.5, 2.6, 21 %. SiLU: 20, 19, 15, 19 %. GELU: 22, 9.2, 10, 13 %">    </p:cNvPr>
          <p:cNvPicPr>
            <a:picLocks noChangeAspect="1"/>
          </p:cNvPicPr>
          <p:nvPr/>
        </p:nvPicPr>
        <p:blipFill>
          <a:blip r:embed="rId1"/>
          <a:srcRect l="-34040" r="-34040" t="0" b="0"/>
          <a:stretch/>
        </p:blipFill>
        <p:spPr>
          <a:xfrm>
            <a:off x="812800" y="1243310"/>
            <a:ext cx="10566400" cy="3429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12800" y="4875510"/>
            <a:ext cx="1088339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Вывод.</a:t>
            </a:r>
            <a:r>
              <a:rPr lang="en-US" sz="1400" dirty="0">
                <a:solidFill>
                  <a:srgbClr val="1F293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Выбор активации важнее выбора оптимизатора. Единственное сочетание с ошибкой меньше 1 % — tanh и RMSprop → L-BFGS. Для sigmoid и GELU замена Adam снижает ошибку в 2–3 раза, но tanh остаётся лучше.</a:t>
            </a:r>
            <a:endParaRPr lang="en-US" sz="1400" dirty="0"/>
          </a:p>
        </p:txBody>
      </p:sp>
      <p:pic>
        <p:nvPicPr>
          <p:cNvPr id="5" name="Image 1" descr="lin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2800" y="6096000"/>
            <a:ext cx="10566400" cy="127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2800" y="62890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27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Анализ гиперпараметров PINN для уравнения Бюргерса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10058400" y="62890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27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17 / 25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660400"/>
            <a:ext cx="10883392" cy="405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90"/>
              </a:lnSpc>
              <a:buNone/>
            </a:pPr>
            <a:r>
              <a:rPr lang="en-US" sz="2600" b="1" i="0" dirty="0">
                <a:solidFill>
                  <a:srgbClr val="1F386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Число итераций</a:t>
            </a:r>
            <a:endParaRPr lang="en-US" sz="2600" dirty="0"/>
          </a:p>
        </p:txBody>
      </p:sp>
      <p:pic>
        <p:nvPicPr>
          <p:cNvPr id="3" name="Image 0" descr="Ошибка от числа итераций Adam: только Adam — 16 % на 5 тысячах, 9.3 % на 15 тысячах, 8 % на 100 тысячах; Adam, затем L-BFGS — 3.1 % без Adam, 0.95 % после 2 тысяч, 2.0 % после 5 тысяч, 2.1 % после 15 тысяч, 0.40 % после 30 тысяч">    </p:cNvPr>
          <p:cNvPicPr>
            <a:picLocks noChangeAspect="1"/>
          </p:cNvPicPr>
          <p:nvPr/>
        </p:nvPicPr>
        <p:blipFill>
          <a:blip r:embed="rId1"/>
          <a:srcRect l="0" r="0" t="-6333" b="-6333"/>
          <a:stretch/>
        </p:blipFill>
        <p:spPr>
          <a:xfrm>
            <a:off x="812800" y="1243310"/>
            <a:ext cx="6350000" cy="3302000"/>
          </a:xfrm>
          <a:prstGeom prst="rect">
            <a:avLst/>
          </a:prstGeom>
        </p:spPr>
      </p:pic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29500" y="1256010"/>
          <a:ext cx="3949700" cy="2874764"/>
        </p:xfrm>
        <a:graphic>
          <a:graphicData uri="http://schemas.openxmlformats.org/drawingml/2006/table">
            <a:tbl>
              <a:tblPr/>
              <a:tblGrid>
                <a:gridCol w="1184910"/>
                <a:gridCol w="1382395"/>
                <a:gridCol w="1382395"/>
              </a:tblGrid>
              <a:tr h="54600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Итерации Adam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только Adam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+ L-BFGS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0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—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3.1 %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2 000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—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0.95 %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5 000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16 %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2.0 %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15 000 (база)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9.3 %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2.1 %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30 000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14 %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0.40 %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50 000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13 %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—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100 000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8.0 %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—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812800" y="4748510"/>
            <a:ext cx="1088339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Вывод.</a:t>
            </a:r>
            <a:r>
              <a:rPr lang="en-US" sz="1400" dirty="0">
                <a:solidFill>
                  <a:srgbClr val="1F293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Точность обеспечивает L-BFGS: без него даже 100 000 итераций Adam дают 8 %. L-BFGS нужно доводить до сходимости — ограничение 500–2000 шагов даёт 4.8–7.8 %. Шаг Adam (1e-4…1e-2) не влияет.</a:t>
            </a:r>
            <a:endParaRPr lang="en-US" sz="1400" dirty="0"/>
          </a:p>
        </p:txBody>
      </p:sp>
      <p:pic>
        <p:nvPicPr>
          <p:cNvPr id="6" name="Image 1" descr="lin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2800" y="6096000"/>
            <a:ext cx="10566400" cy="127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12800" y="62890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27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Анализ гиперпараметров PINN для уравнения Бюргерса</a:t>
            </a:r>
            <a:endParaRPr lang="en-US" sz="1200" dirty="0"/>
          </a:p>
        </p:txBody>
      </p:sp>
      <p:sp>
        <p:nvSpPr>
          <p:cNvPr id="8" name="Text 3"/>
          <p:cNvSpPr/>
          <p:nvPr/>
        </p:nvSpPr>
        <p:spPr>
          <a:xfrm>
            <a:off x="10058400" y="62890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27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18 / 25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660400"/>
            <a:ext cx="10883392" cy="405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90"/>
              </a:lnSpc>
              <a:buNone/>
            </a:pPr>
            <a:r>
              <a:rPr lang="en-US" sz="2600" b="1" i="0" dirty="0">
                <a:solidFill>
                  <a:srgbClr val="1F386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Устойчивость обучения: float32 и float64</a:t>
            </a:r>
            <a:endParaRPr lang="en-US" sz="2600" dirty="0"/>
          </a:p>
        </p:txBody>
      </p:sp>
      <p:pic>
        <p:nvPicPr>
          <p:cNvPr id="3" name="Image 0" descr="Базовая модель на 10 seed: во float32 ошибка от 0.23 % до 13.7 %, два запуска с остановкой L-BFGS дают больше 10 %; во float64 все 10 запусков от 0.37 % до 1.4 %, среднее 0.60 %">    </p:cNvPr>
          <p:cNvPicPr>
            <a:picLocks noChangeAspect="1"/>
          </p:cNvPicPr>
          <p:nvPr/>
        </p:nvPicPr>
        <p:blipFill>
          <a:blip r:embed="rId1"/>
          <a:srcRect l="0" r="0" t="-7613" b="-7613"/>
          <a:stretch/>
        </p:blipFill>
        <p:spPr>
          <a:xfrm>
            <a:off x="812800" y="1243310"/>
            <a:ext cx="6731000" cy="3302000"/>
          </a:xfrm>
          <a:prstGeom prst="rect">
            <a:avLst/>
          </a:prstGeom>
        </p:spPr>
      </p:pic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10500" y="1256010"/>
          <a:ext cx="3568700" cy="2618184"/>
        </p:xfrm>
        <a:graphic>
          <a:graphicData uri="http://schemas.openxmlformats.org/drawingml/2006/table">
            <a:tbl>
              <a:tblPr/>
              <a:tblGrid>
                <a:gridCol w="1427480"/>
                <a:gridCol w="1070610"/>
                <a:gridCol w="1070610"/>
              </a:tblGrid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10 запусков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float32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float64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среднее L2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1.5 %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0.60 %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045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разброс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0.23–13.7 %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0.37–1.4 %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L2 &lt; 1 %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4 из 10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8 из 10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045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остановки L-BFGS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2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0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мс на итерацию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2.4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4.6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812800" y="4748510"/>
            <a:ext cx="1088339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Вывод.</a:t>
            </a:r>
            <a:r>
              <a:rPr lang="en-US" sz="1400" dirty="0">
                <a:solidFill>
                  <a:srgbClr val="1F293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Во float32 L-BFGS останавливается преждевременно в 19 % прогонов (46 из 248). Двойная точность устраняет остановки ценой вдвое более медленной итерации.</a:t>
            </a:r>
            <a:endParaRPr lang="en-US" sz="1400" dirty="0"/>
          </a:p>
        </p:txBody>
      </p:sp>
      <p:pic>
        <p:nvPicPr>
          <p:cNvPr id="6" name="Image 1" descr="lin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2800" y="6096000"/>
            <a:ext cx="10566400" cy="127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12800" y="62890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27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Анализ гиперпараметров PINN для уравнения Бюргерса</a:t>
            </a:r>
            <a:endParaRPr lang="en-US" sz="1200" dirty="0"/>
          </a:p>
        </p:txBody>
      </p:sp>
      <p:sp>
        <p:nvSpPr>
          <p:cNvPr id="8" name="Text 3"/>
          <p:cNvSpPr/>
          <p:nvPr/>
        </p:nvSpPr>
        <p:spPr>
          <a:xfrm>
            <a:off x="10058400" y="62890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27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19 / 25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660400"/>
            <a:ext cx="10883392" cy="4019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71"/>
              </a:lnSpc>
              <a:buNone/>
            </a:pPr>
            <a:r>
              <a:rPr lang="en-US" sz="2584" b="1" i="0" dirty="0">
                <a:solidFill>
                  <a:srgbClr val="1F386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Комбинированные конфигурации</a:t>
            </a:r>
            <a:endParaRPr lang="en-US" sz="2584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227435"/>
          <a:ext cx="10553700" cy="4288730"/>
        </p:xfrm>
        <a:graphic>
          <a:graphicData uri="http://schemas.openxmlformats.org/drawingml/2006/table">
            <a:tbl>
              <a:tblPr/>
              <a:tblGrid>
                <a:gridCol w="3377184"/>
                <a:gridCol w="1055370"/>
                <a:gridCol w="1371981"/>
                <a:gridCol w="1055370"/>
                <a:gridCol w="1266444"/>
                <a:gridCol w="1160907"/>
                <a:gridCol w="1266444"/>
              </a:tblGrid>
              <a:tr h="329902">
                <a:tc>
                  <a:txBody>
                    <a:bodyPr/>
                    <a:lstStyle/>
                    <a:p>
                      <a:pPr indent="0" marL="0">
                        <a:lnSpc>
                          <a:spcPts val="1664"/>
                        </a:lnSpc>
                        <a:buNone/>
                      </a:pPr>
                      <a:r>
                        <a:rPr lang="en-US" sz="1189" b="1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Конфигурация</a:t>
                      </a:r>
                      <a:endParaRPr lang="en-US" sz="1189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2840" marR="52840" marT="52840" marB="528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64"/>
                        </a:lnSpc>
                        <a:buNone/>
                      </a:pPr>
                      <a:r>
                        <a:rPr lang="en-US" sz="1189" b="1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L2</a:t>
                      </a:r>
                      <a:endParaRPr lang="en-US" sz="1189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2840" marR="52840" marT="52840" marB="52840" anchor="t">
                    <a:lnL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64"/>
                        </a:lnSpc>
                        <a:buNone/>
                      </a:pPr>
                      <a:r>
                        <a:rPr lang="en-US" sz="1189" b="1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Разброс, %</a:t>
                      </a:r>
                      <a:endParaRPr lang="en-US" sz="1189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2840" marR="52840" marT="52840" marB="52840" anchor="t">
                    <a:lnL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64"/>
                        </a:lnSpc>
                        <a:buNone/>
                      </a:pPr>
                      <a:r>
                        <a:rPr lang="en-US" sz="1189" b="1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Adam, с</a:t>
                      </a:r>
                      <a:endParaRPr lang="en-US" sz="1189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2840" marR="52840" marT="52840" marB="52840" anchor="t">
                    <a:lnL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64"/>
                        </a:lnSpc>
                        <a:buNone/>
                      </a:pPr>
                      <a:r>
                        <a:rPr lang="en-US" sz="1189" b="1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L-BFGS, с</a:t>
                      </a:r>
                      <a:endParaRPr lang="en-US" sz="1189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2840" marR="52840" marT="52840" marB="52840" anchor="t">
                    <a:lnL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64"/>
                        </a:lnSpc>
                        <a:buNone/>
                      </a:pPr>
                      <a:r>
                        <a:rPr lang="en-US" sz="1189" b="1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Всего, мин</a:t>
                      </a:r>
                      <a:endParaRPr lang="en-US" sz="1189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2840" marR="52840" marT="52840" marB="52840" anchor="t">
                    <a:lnL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64"/>
                        </a:lnSpc>
                        <a:buNone/>
                      </a:pPr>
                      <a:r>
                        <a:rPr lang="en-US" sz="1189" b="1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Статус</a:t>
                      </a:r>
                      <a:endParaRPr lang="en-US" sz="1189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2840" marR="52840" marT="52840" marB="52840" anchor="t">
                    <a:lnL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29902">
                <a:tc>
                  <a:txBody>
                    <a:bodyPr/>
                    <a:lstStyle/>
                    <a:p>
                      <a:pPr indent="0" marL="0">
                        <a:lnSpc>
                          <a:spcPts val="1664"/>
                        </a:lnSpc>
                        <a:buNone/>
                      </a:pPr>
                      <a:r>
                        <a:rPr lang="en-US" sz="1189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tanh, GU, [20] × 6, Adam 30 000</a:t>
                      </a:r>
                      <a:endParaRPr lang="en-US" sz="1189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2840" marR="52840" marT="52840" marB="528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64"/>
                        </a:lnSpc>
                        <a:buNone/>
                      </a:pPr>
                      <a:r>
                        <a:rPr lang="en-US" sz="1189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0.15 %</a:t>
                      </a:r>
                      <a:endParaRPr lang="en-US" sz="1189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2840" marR="52840" marT="52840" marB="528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64"/>
                        </a:lnSpc>
                        <a:buNone/>
                      </a:pPr>
                      <a:r>
                        <a:rPr lang="en-US" sz="1189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0.10–0.21</a:t>
                      </a:r>
                      <a:endParaRPr lang="en-US" sz="1189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2840" marR="52840" marT="52840" marB="528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64"/>
                        </a:lnSpc>
                        <a:buNone/>
                      </a:pPr>
                      <a:r>
                        <a:rPr lang="en-US" sz="1189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146</a:t>
                      </a:r>
                      <a:endParaRPr lang="en-US" sz="1189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2840" marR="52840" marT="52840" marB="528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64"/>
                        </a:lnSpc>
                        <a:buNone/>
                      </a:pPr>
                      <a:r>
                        <a:rPr lang="en-US" sz="1189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20</a:t>
                      </a:r>
                      <a:endParaRPr lang="en-US" sz="1189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2840" marR="52840" marT="52840" marB="528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64"/>
                        </a:lnSpc>
                        <a:buNone/>
                      </a:pPr>
                      <a:r>
                        <a:rPr lang="en-US" sz="1189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2.78</a:t>
                      </a:r>
                      <a:endParaRPr lang="en-US" sz="1189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2840" marR="52840" marT="52840" marB="528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64"/>
                        </a:lnSpc>
                        <a:buNone/>
                      </a:pPr>
                      <a:r>
                        <a:rPr lang="en-US" sz="1189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✓</a:t>
                      </a:r>
                      <a:endParaRPr lang="en-US" sz="1189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2840" marR="52840" marT="52840" marB="528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902">
                <a:tc>
                  <a:txBody>
                    <a:bodyPr/>
                    <a:lstStyle/>
                    <a:p>
                      <a:pPr indent="0" marL="0">
                        <a:lnSpc>
                          <a:spcPts val="1664"/>
                        </a:lnSpc>
                        <a:buNone/>
                      </a:pPr>
                      <a:r>
                        <a:rPr lang="en-US" sz="1189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tanh, GU, [20] × 4, 5000 точек</a:t>
                      </a:r>
                      <a:endParaRPr lang="en-US" sz="1189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2840" marR="52840" marT="52840" marB="528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64"/>
                        </a:lnSpc>
                        <a:buNone/>
                      </a:pPr>
                      <a:r>
                        <a:rPr lang="en-US" sz="1189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0.25 %</a:t>
                      </a:r>
                      <a:endParaRPr lang="en-US" sz="1189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2840" marR="52840" marT="52840" marB="52840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64"/>
                        </a:lnSpc>
                        <a:buNone/>
                      </a:pPr>
                      <a:r>
                        <a:rPr lang="en-US" sz="1189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0.07–2.6</a:t>
                      </a:r>
                      <a:endParaRPr lang="en-US" sz="1189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2840" marR="52840" marT="52840" marB="52840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64"/>
                        </a:lnSpc>
                        <a:buNone/>
                      </a:pPr>
                      <a:r>
                        <a:rPr lang="en-US" sz="1189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84</a:t>
                      </a:r>
                      <a:endParaRPr lang="en-US" sz="1189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2840" marR="52840" marT="52840" marB="52840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64"/>
                        </a:lnSpc>
                        <a:buNone/>
                      </a:pPr>
                      <a:r>
                        <a:rPr lang="en-US" sz="1189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25</a:t>
                      </a:r>
                      <a:endParaRPr lang="en-US" sz="1189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2840" marR="52840" marT="52840" marB="52840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64"/>
                        </a:lnSpc>
                        <a:buNone/>
                      </a:pPr>
                      <a:r>
                        <a:rPr lang="en-US" sz="1189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1.83</a:t>
                      </a:r>
                      <a:endParaRPr lang="en-US" sz="1189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2840" marR="52840" marT="52840" marB="52840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64"/>
                        </a:lnSpc>
                        <a:buNone/>
                      </a:pPr>
                      <a:r>
                        <a:rPr lang="en-US" sz="1189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✓</a:t>
                      </a:r>
                      <a:endParaRPr lang="en-US" sz="1189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2840" marR="52840" marT="52840" marB="52840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29902">
                <a:tc>
                  <a:txBody>
                    <a:bodyPr/>
                    <a:lstStyle/>
                    <a:p>
                      <a:pPr indent="0" marL="0">
                        <a:lnSpc>
                          <a:spcPts val="1664"/>
                        </a:lnSpc>
                        <a:buNone/>
                      </a:pPr>
                      <a:r>
                        <a:rPr lang="en-US" sz="1189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tanh, GU, [20] × 4</a:t>
                      </a:r>
                      <a:endParaRPr lang="en-US" sz="1189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2840" marR="52840" marT="52840" marB="528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64"/>
                        </a:lnSpc>
                        <a:buNone/>
                      </a:pPr>
                      <a:r>
                        <a:rPr lang="en-US" sz="1189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0.32 %</a:t>
                      </a:r>
                      <a:endParaRPr lang="en-US" sz="1189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2840" marR="52840" marT="52840" marB="528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64"/>
                        </a:lnSpc>
                        <a:buNone/>
                      </a:pPr>
                      <a:r>
                        <a:rPr lang="en-US" sz="1189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0.13–0.78</a:t>
                      </a:r>
                      <a:endParaRPr lang="en-US" sz="1189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2840" marR="52840" marT="52840" marB="528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64"/>
                        </a:lnSpc>
                        <a:buNone/>
                      </a:pPr>
                      <a:r>
                        <a:rPr lang="en-US" sz="1189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51</a:t>
                      </a:r>
                      <a:endParaRPr lang="en-US" sz="1189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2840" marR="52840" marT="52840" marB="528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64"/>
                        </a:lnSpc>
                        <a:buNone/>
                      </a:pPr>
                      <a:r>
                        <a:rPr lang="en-US" sz="1189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26</a:t>
                      </a:r>
                      <a:endParaRPr lang="en-US" sz="1189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2840" marR="52840" marT="52840" marB="528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64"/>
                        </a:lnSpc>
                        <a:buNone/>
                      </a:pPr>
                      <a:r>
                        <a:rPr lang="en-US" sz="1189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1.28</a:t>
                      </a:r>
                      <a:endParaRPr lang="en-US" sz="1189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2840" marR="52840" marT="52840" marB="528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64"/>
                        </a:lnSpc>
                        <a:buNone/>
                      </a:pPr>
                      <a:r>
                        <a:rPr lang="en-US" sz="1189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✓</a:t>
                      </a:r>
                      <a:endParaRPr lang="en-US" sz="1189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2840" marR="52840" marT="52840" marB="528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902">
                <a:tc>
                  <a:txBody>
                    <a:bodyPr/>
                    <a:lstStyle/>
                    <a:p>
                      <a:pPr indent="0" marL="0">
                        <a:lnSpc>
                          <a:spcPts val="1664"/>
                        </a:lnSpc>
                        <a:buNone/>
                      </a:pPr>
                      <a:r>
                        <a:rPr lang="en-US" sz="1189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LAAF-tanh, GU, [20] × 4</a:t>
                      </a:r>
                      <a:endParaRPr lang="en-US" sz="1189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2840" marR="52840" marT="52840" marB="528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64"/>
                        </a:lnSpc>
                        <a:buNone/>
                      </a:pPr>
                      <a:r>
                        <a:rPr lang="en-US" sz="1189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0.38 %</a:t>
                      </a:r>
                      <a:endParaRPr lang="en-US" sz="1189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2840" marR="52840" marT="52840" marB="52840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64"/>
                        </a:lnSpc>
                        <a:buNone/>
                      </a:pPr>
                      <a:r>
                        <a:rPr lang="en-US" sz="1189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0.11–0.90</a:t>
                      </a:r>
                      <a:endParaRPr lang="en-US" sz="1189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2840" marR="52840" marT="52840" marB="52840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64"/>
                        </a:lnSpc>
                        <a:buNone/>
                      </a:pPr>
                      <a:r>
                        <a:rPr lang="en-US" sz="1189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61</a:t>
                      </a:r>
                      <a:endParaRPr lang="en-US" sz="1189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2840" marR="52840" marT="52840" marB="52840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64"/>
                        </a:lnSpc>
                        <a:buNone/>
                      </a:pPr>
                      <a:r>
                        <a:rPr lang="en-US" sz="1189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30</a:t>
                      </a:r>
                      <a:endParaRPr lang="en-US" sz="1189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2840" marR="52840" marT="52840" marB="52840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64"/>
                        </a:lnSpc>
                        <a:buNone/>
                      </a:pPr>
                      <a:r>
                        <a:rPr lang="en-US" sz="1189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1.52</a:t>
                      </a:r>
                      <a:endParaRPr lang="en-US" sz="1189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2840" marR="52840" marT="52840" marB="52840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64"/>
                        </a:lnSpc>
                        <a:buNone/>
                      </a:pPr>
                      <a:r>
                        <a:rPr lang="en-US" sz="1189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✓</a:t>
                      </a:r>
                      <a:endParaRPr lang="en-US" sz="1189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2840" marR="52840" marT="52840" marB="52840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29902">
                <a:tc>
                  <a:txBody>
                    <a:bodyPr/>
                    <a:lstStyle/>
                    <a:p>
                      <a:pPr indent="0" marL="0">
                        <a:lnSpc>
                          <a:spcPts val="1664"/>
                        </a:lnSpc>
                        <a:buNone/>
                      </a:pPr>
                      <a:r>
                        <a:rPr lang="en-US" sz="1189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SiLU, HN, [20] × 4, RMSprop</a:t>
                      </a:r>
                      <a:endParaRPr lang="en-US" sz="1189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2840" marR="52840" marT="52840" marB="528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64"/>
                        </a:lnSpc>
                        <a:buNone/>
                      </a:pPr>
                      <a:r>
                        <a:rPr lang="en-US" sz="1189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1.3 %</a:t>
                      </a:r>
                      <a:endParaRPr lang="en-US" sz="1189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2840" marR="52840" marT="52840" marB="528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64"/>
                        </a:lnSpc>
                        <a:buNone/>
                      </a:pPr>
                      <a:r>
                        <a:rPr lang="en-US" sz="1189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0.22–9.5</a:t>
                      </a:r>
                      <a:endParaRPr lang="en-US" sz="1189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2840" marR="52840" marT="52840" marB="528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64"/>
                        </a:lnSpc>
                        <a:buNone/>
                      </a:pPr>
                      <a:r>
                        <a:rPr lang="en-US" sz="1189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82</a:t>
                      </a:r>
                      <a:endParaRPr lang="en-US" sz="1189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2840" marR="52840" marT="52840" marB="528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64"/>
                        </a:lnSpc>
                        <a:buNone/>
                      </a:pPr>
                      <a:r>
                        <a:rPr lang="en-US" sz="1189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34</a:t>
                      </a:r>
                      <a:endParaRPr lang="en-US" sz="1189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2840" marR="52840" marT="52840" marB="528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64"/>
                        </a:lnSpc>
                        <a:buNone/>
                      </a:pPr>
                      <a:r>
                        <a:rPr lang="en-US" sz="1189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1.92</a:t>
                      </a:r>
                      <a:endParaRPr lang="en-US" sz="1189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2840" marR="52840" marT="52840" marB="528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64"/>
                        </a:lnSpc>
                        <a:buNone/>
                      </a:pPr>
                      <a:r>
                        <a:rPr lang="en-US" sz="1189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✗</a:t>
                      </a:r>
                      <a:endParaRPr lang="en-US" sz="1189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2840" marR="52840" marT="52840" marB="528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902">
                <a:tc>
                  <a:txBody>
                    <a:bodyPr/>
                    <a:lstStyle/>
                    <a:p>
                      <a:pPr indent="0" marL="0">
                        <a:lnSpc>
                          <a:spcPts val="1664"/>
                        </a:lnSpc>
                        <a:buNone/>
                      </a:pPr>
                      <a:r>
                        <a:rPr lang="en-US" sz="1189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tanh, GN, [20] × 3 (база)</a:t>
                      </a:r>
                      <a:endParaRPr lang="en-US" sz="1189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2840" marR="52840" marT="52840" marB="528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64"/>
                        </a:lnSpc>
                        <a:buNone/>
                      </a:pPr>
                      <a:r>
                        <a:rPr lang="en-US" sz="1189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2.1 %</a:t>
                      </a:r>
                      <a:endParaRPr lang="en-US" sz="1189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2840" marR="52840" marT="52840" marB="52840" anchor="t">
                    <a:lnL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64"/>
                        </a:lnSpc>
                        <a:buNone/>
                      </a:pPr>
                      <a:r>
                        <a:rPr lang="en-US" sz="1189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0.44–13.7</a:t>
                      </a:r>
                      <a:endParaRPr lang="en-US" sz="1189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2840" marR="52840" marT="52840" marB="52840" anchor="t">
                    <a:lnL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64"/>
                        </a:lnSpc>
                        <a:buNone/>
                      </a:pPr>
                      <a:r>
                        <a:rPr lang="en-US" sz="1189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37</a:t>
                      </a:r>
                      <a:endParaRPr lang="en-US" sz="1189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2840" marR="52840" marT="52840" marB="52840" anchor="t">
                    <a:lnL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64"/>
                        </a:lnSpc>
                        <a:buNone/>
                      </a:pPr>
                      <a:r>
                        <a:rPr lang="en-US" sz="1189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18</a:t>
                      </a:r>
                      <a:endParaRPr lang="en-US" sz="1189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2840" marR="52840" marT="52840" marB="52840" anchor="t">
                    <a:lnL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64"/>
                        </a:lnSpc>
                        <a:buNone/>
                      </a:pPr>
                      <a:r>
                        <a:rPr lang="en-US" sz="1189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0.91</a:t>
                      </a:r>
                      <a:endParaRPr lang="en-US" sz="1189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2840" marR="52840" marT="52840" marB="52840" anchor="t">
                    <a:lnL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64"/>
                        </a:lnSpc>
                        <a:buNone/>
                      </a:pPr>
                      <a:r>
                        <a:rPr lang="en-US" sz="1189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✗</a:t>
                      </a:r>
                      <a:endParaRPr lang="en-US" sz="1189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2840" marR="52840" marT="52840" marB="52840" anchor="t">
                    <a:lnL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  <a:tr h="329902">
                <a:tc>
                  <a:txBody>
                    <a:bodyPr/>
                    <a:lstStyle/>
                    <a:p>
                      <a:pPr indent="0" marL="0">
                        <a:lnSpc>
                          <a:spcPts val="1664"/>
                        </a:lnSpc>
                        <a:buNone/>
                      </a:pPr>
                      <a:r>
                        <a:rPr lang="en-US" sz="1189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sin, GU, [20] × 4, RMSprop</a:t>
                      </a:r>
                      <a:endParaRPr lang="en-US" sz="1189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2840" marR="52840" marT="52840" marB="528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64"/>
                        </a:lnSpc>
                        <a:buNone/>
                      </a:pPr>
                      <a:r>
                        <a:rPr lang="en-US" sz="1189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3.0 %</a:t>
                      </a:r>
                      <a:endParaRPr lang="en-US" sz="1189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2840" marR="52840" marT="52840" marB="528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64"/>
                        </a:lnSpc>
                        <a:buNone/>
                      </a:pPr>
                      <a:r>
                        <a:rPr lang="en-US" sz="1189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1.3–5.6</a:t>
                      </a:r>
                      <a:endParaRPr lang="en-US" sz="1189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2840" marR="52840" marT="52840" marB="528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64"/>
                        </a:lnSpc>
                        <a:buNone/>
                      </a:pPr>
                      <a:r>
                        <a:rPr lang="en-US" sz="1189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75</a:t>
                      </a:r>
                      <a:endParaRPr lang="en-US" sz="1189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2840" marR="52840" marT="52840" marB="528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64"/>
                        </a:lnSpc>
                        <a:buNone/>
                      </a:pPr>
                      <a:r>
                        <a:rPr lang="en-US" sz="1189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37</a:t>
                      </a:r>
                      <a:endParaRPr lang="en-US" sz="1189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2840" marR="52840" marT="52840" marB="528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64"/>
                        </a:lnSpc>
                        <a:buNone/>
                      </a:pPr>
                      <a:r>
                        <a:rPr lang="en-US" sz="1189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1.86</a:t>
                      </a:r>
                      <a:endParaRPr lang="en-US" sz="1189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2840" marR="52840" marT="52840" marB="528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64"/>
                        </a:lnSpc>
                        <a:buNone/>
                      </a:pPr>
                      <a:r>
                        <a:rPr lang="en-US" sz="1189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✗</a:t>
                      </a:r>
                      <a:endParaRPr lang="en-US" sz="1189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2840" marR="52840" marT="52840" marB="528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902">
                <a:tc>
                  <a:txBody>
                    <a:bodyPr/>
                    <a:lstStyle/>
                    <a:p>
                      <a:pPr indent="0" marL="0">
                        <a:lnSpc>
                          <a:spcPts val="1664"/>
                        </a:lnSpc>
                        <a:buNone/>
                      </a:pPr>
                      <a:r>
                        <a:rPr lang="en-US" sz="1189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sin, GU, [20] × 4</a:t>
                      </a:r>
                      <a:endParaRPr lang="en-US" sz="1189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2840" marR="52840" marT="52840" marB="528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64"/>
                        </a:lnSpc>
                        <a:buNone/>
                      </a:pPr>
                      <a:r>
                        <a:rPr lang="en-US" sz="1189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5.5 %</a:t>
                      </a:r>
                      <a:endParaRPr lang="en-US" sz="1189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2840" marR="52840" marT="52840" marB="52840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64"/>
                        </a:lnSpc>
                        <a:buNone/>
                      </a:pPr>
                      <a:r>
                        <a:rPr lang="en-US" sz="1189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1.5–11.1</a:t>
                      </a:r>
                      <a:endParaRPr lang="en-US" sz="1189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2840" marR="52840" marT="52840" marB="52840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64"/>
                        </a:lnSpc>
                        <a:buNone/>
                      </a:pPr>
                      <a:r>
                        <a:rPr lang="en-US" sz="1189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76</a:t>
                      </a:r>
                      <a:endParaRPr lang="en-US" sz="1189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2840" marR="52840" marT="52840" marB="52840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64"/>
                        </a:lnSpc>
                        <a:buNone/>
                      </a:pPr>
                      <a:r>
                        <a:rPr lang="en-US" sz="1189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85</a:t>
                      </a:r>
                      <a:endParaRPr lang="en-US" sz="1189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2840" marR="52840" marT="52840" marB="52840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64"/>
                        </a:lnSpc>
                        <a:buNone/>
                      </a:pPr>
                      <a:r>
                        <a:rPr lang="en-US" sz="1189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2.68</a:t>
                      </a:r>
                      <a:endParaRPr lang="en-US" sz="1189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2840" marR="52840" marT="52840" marB="52840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64"/>
                        </a:lnSpc>
                        <a:buNone/>
                      </a:pPr>
                      <a:r>
                        <a:rPr lang="en-US" sz="1189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✗</a:t>
                      </a:r>
                      <a:endParaRPr lang="en-US" sz="1189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2840" marR="52840" marT="52840" marB="52840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29902">
                <a:tc>
                  <a:txBody>
                    <a:bodyPr/>
                    <a:lstStyle/>
                    <a:p>
                      <a:pPr indent="0" marL="0">
                        <a:lnSpc>
                          <a:spcPts val="1664"/>
                        </a:lnSpc>
                        <a:buNone/>
                      </a:pPr>
                      <a:r>
                        <a:rPr lang="en-US" sz="1189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tanh, GN, [20] × 2, Adam 5000</a:t>
                      </a:r>
                      <a:endParaRPr lang="en-US" sz="1189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2840" marR="52840" marT="52840" marB="528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64"/>
                        </a:lnSpc>
                        <a:buNone/>
                      </a:pPr>
                      <a:r>
                        <a:rPr lang="en-US" sz="1189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5.9 %</a:t>
                      </a:r>
                      <a:endParaRPr lang="en-US" sz="1189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2840" marR="52840" marT="52840" marB="528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64"/>
                        </a:lnSpc>
                        <a:buNone/>
                      </a:pPr>
                      <a:r>
                        <a:rPr lang="en-US" sz="1189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2.0–12.5</a:t>
                      </a:r>
                      <a:endParaRPr lang="en-US" sz="1189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2840" marR="52840" marT="52840" marB="528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64"/>
                        </a:lnSpc>
                        <a:buNone/>
                      </a:pPr>
                      <a:r>
                        <a:rPr lang="en-US" sz="1189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10</a:t>
                      </a:r>
                      <a:endParaRPr lang="en-US" sz="1189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2840" marR="52840" marT="52840" marB="528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64"/>
                        </a:lnSpc>
                        <a:buNone/>
                      </a:pPr>
                      <a:r>
                        <a:rPr lang="en-US" sz="1189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15</a:t>
                      </a:r>
                      <a:endParaRPr lang="en-US" sz="1189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2840" marR="52840" marT="52840" marB="528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64"/>
                        </a:lnSpc>
                        <a:buNone/>
                      </a:pPr>
                      <a:r>
                        <a:rPr lang="en-US" sz="1189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0.41</a:t>
                      </a:r>
                      <a:endParaRPr lang="en-US" sz="1189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2840" marR="52840" marT="52840" marB="528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64"/>
                        </a:lnSpc>
                        <a:buNone/>
                      </a:pPr>
                      <a:r>
                        <a:rPr lang="en-US" sz="1189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✗</a:t>
                      </a:r>
                      <a:endParaRPr lang="en-US" sz="1189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2840" marR="52840" marT="52840" marB="528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902">
                <a:tc>
                  <a:txBody>
                    <a:bodyPr/>
                    <a:lstStyle/>
                    <a:p>
                      <a:pPr indent="0" marL="0">
                        <a:lnSpc>
                          <a:spcPts val="1664"/>
                        </a:lnSpc>
                        <a:buNone/>
                      </a:pPr>
                      <a:r>
                        <a:rPr lang="en-US" sz="1189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GELU, HU, [20] × 3, AdamW</a:t>
                      </a:r>
                      <a:endParaRPr lang="en-US" sz="1189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2840" marR="52840" marT="52840" marB="528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64"/>
                        </a:lnSpc>
                        <a:buNone/>
                      </a:pPr>
                      <a:r>
                        <a:rPr lang="en-US" sz="1189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7.6 %</a:t>
                      </a:r>
                      <a:endParaRPr lang="en-US" sz="1189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2840" marR="52840" marT="52840" marB="52840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64"/>
                        </a:lnSpc>
                        <a:buNone/>
                      </a:pPr>
                      <a:r>
                        <a:rPr lang="en-US" sz="1189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5.7–10.9</a:t>
                      </a:r>
                      <a:endParaRPr lang="en-US" sz="1189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2840" marR="52840" marT="52840" marB="52840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64"/>
                        </a:lnSpc>
                        <a:buNone/>
                      </a:pPr>
                      <a:r>
                        <a:rPr lang="en-US" sz="1189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80</a:t>
                      </a:r>
                      <a:endParaRPr lang="en-US" sz="1189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2840" marR="52840" marT="52840" marB="52840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64"/>
                        </a:lnSpc>
                        <a:buNone/>
                      </a:pPr>
                      <a:r>
                        <a:rPr lang="en-US" sz="1189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29</a:t>
                      </a:r>
                      <a:endParaRPr lang="en-US" sz="1189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2840" marR="52840" marT="52840" marB="52840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64"/>
                        </a:lnSpc>
                        <a:buNone/>
                      </a:pPr>
                      <a:r>
                        <a:rPr lang="en-US" sz="1189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1.83</a:t>
                      </a:r>
                      <a:endParaRPr lang="en-US" sz="1189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2840" marR="52840" marT="52840" marB="52840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64"/>
                        </a:lnSpc>
                        <a:buNone/>
                      </a:pPr>
                      <a:r>
                        <a:rPr lang="en-US" sz="1189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✗</a:t>
                      </a:r>
                      <a:endParaRPr lang="en-US" sz="1189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2840" marR="52840" marT="52840" marB="52840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29902">
                <a:tc>
                  <a:txBody>
                    <a:bodyPr/>
                    <a:lstStyle/>
                    <a:p>
                      <a:pPr indent="0" marL="0">
                        <a:lnSpc>
                          <a:spcPts val="1664"/>
                        </a:lnSpc>
                        <a:buNone/>
                      </a:pPr>
                      <a:r>
                        <a:rPr lang="en-US" sz="1189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sin, GU, [40] × 4</a:t>
                      </a:r>
                      <a:endParaRPr lang="en-US" sz="1189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2840" marR="52840" marT="52840" marB="528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64"/>
                        </a:lnSpc>
                        <a:buNone/>
                      </a:pPr>
                      <a:r>
                        <a:rPr lang="en-US" sz="1189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11 %</a:t>
                      </a:r>
                      <a:endParaRPr lang="en-US" sz="1189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2840" marR="52840" marT="52840" marB="528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64"/>
                        </a:lnSpc>
                        <a:buNone/>
                      </a:pPr>
                      <a:r>
                        <a:rPr lang="en-US" sz="1189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9.8–12.3</a:t>
                      </a:r>
                      <a:endParaRPr lang="en-US" sz="1189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2840" marR="52840" marT="52840" marB="528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64"/>
                        </a:lnSpc>
                        <a:buNone/>
                      </a:pPr>
                      <a:r>
                        <a:rPr lang="en-US" sz="1189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143</a:t>
                      </a:r>
                      <a:endParaRPr lang="en-US" sz="1189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2840" marR="52840" marT="52840" marB="528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64"/>
                        </a:lnSpc>
                        <a:buNone/>
                      </a:pPr>
                      <a:r>
                        <a:rPr lang="en-US" sz="1189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124</a:t>
                      </a:r>
                      <a:endParaRPr lang="en-US" sz="1189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2840" marR="52840" marT="52840" marB="528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64"/>
                        </a:lnSpc>
                        <a:buNone/>
                      </a:pPr>
                      <a:r>
                        <a:rPr lang="en-US" sz="1189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4.46</a:t>
                      </a:r>
                      <a:endParaRPr lang="en-US" sz="1189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2840" marR="52840" marT="52840" marB="528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64"/>
                        </a:lnSpc>
                        <a:buNone/>
                      </a:pPr>
                      <a:r>
                        <a:rPr lang="en-US" sz="1189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✗</a:t>
                      </a:r>
                      <a:endParaRPr lang="en-US" sz="1189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2840" marR="52840" marT="52840" marB="528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902">
                <a:tc>
                  <a:txBody>
                    <a:bodyPr/>
                    <a:lstStyle/>
                    <a:p>
                      <a:pPr indent="0" marL="0">
                        <a:lnSpc>
                          <a:spcPts val="1664"/>
                        </a:lnSpc>
                        <a:buNone/>
                      </a:pPr>
                      <a:r>
                        <a:rPr lang="en-US" sz="1189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sigmoid / ELU / ReLU</a:t>
                      </a:r>
                      <a:endParaRPr lang="en-US" sz="1189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2840" marR="52840" marT="52840" marB="528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64"/>
                        </a:lnSpc>
                        <a:buNone/>
                      </a:pPr>
                      <a:r>
                        <a:rPr lang="en-US" sz="1189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15–65 %</a:t>
                      </a:r>
                      <a:endParaRPr lang="en-US" sz="1189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2840" marR="52840" marT="52840" marB="52840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64"/>
                        </a:lnSpc>
                        <a:buNone/>
                      </a:pPr>
                      <a:r>
                        <a:rPr lang="en-US" sz="1189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—</a:t>
                      </a:r>
                      <a:endParaRPr lang="en-US" sz="1189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2840" marR="52840" marT="52840" marB="52840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64"/>
                        </a:lnSpc>
                        <a:buNone/>
                      </a:pPr>
                      <a:r>
                        <a:rPr lang="en-US" sz="1189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—</a:t>
                      </a:r>
                      <a:endParaRPr lang="en-US" sz="1189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2840" marR="52840" marT="52840" marB="52840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64"/>
                        </a:lnSpc>
                        <a:buNone/>
                      </a:pPr>
                      <a:r>
                        <a:rPr lang="en-US" sz="1189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—</a:t>
                      </a:r>
                      <a:endParaRPr lang="en-US" sz="1189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2840" marR="52840" marT="52840" marB="52840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64"/>
                        </a:lnSpc>
                        <a:buNone/>
                      </a:pPr>
                      <a:r>
                        <a:rPr lang="en-US" sz="1189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—</a:t>
                      </a:r>
                      <a:endParaRPr lang="en-US" sz="1189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2840" marR="52840" marT="52840" marB="52840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64"/>
                        </a:lnSpc>
                        <a:buNone/>
                      </a:pPr>
                      <a:r>
                        <a:rPr lang="en-US" sz="1189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✗</a:t>
                      </a:r>
                      <a:endParaRPr lang="en-US" sz="1189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2840" marR="52840" marT="52840" marB="52840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5693966"/>
            <a:ext cx="10883392" cy="236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5"/>
              </a:lnSpc>
              <a:buNone/>
            </a:pPr>
            <a:r>
              <a:rPr lang="en-US" sz="1196" dirty="0">
                <a:solidFill>
                  <a:srgbClr val="3E4651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GN, GU — Glorot normal / uniform; HN, HU — He normal / uniform. Все конфигурации — по 3 запуска.</a:t>
            </a:r>
            <a:endParaRPr lang="en-US" sz="1196" dirty="0"/>
          </a:p>
        </p:txBody>
      </p:sp>
      <p:pic>
        <p:nvPicPr>
          <p:cNvPr id="5" name="Image 0" descr="lin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6096000"/>
            <a:ext cx="10566400" cy="127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2800" y="62890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27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Анализ гиперпараметров PINN для уравнения Бюргерса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10058400" y="62890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27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20 / 25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660400"/>
            <a:ext cx="10883392" cy="405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90"/>
              </a:lnSpc>
              <a:buNone/>
            </a:pPr>
            <a:r>
              <a:rPr lang="en-US" sz="2600" b="1" i="0" dirty="0">
                <a:solidFill>
                  <a:srgbClr val="1F386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Решения неудачных конфигураций</a:t>
            </a:r>
            <a:endParaRPr lang="en-US" sz="2600" dirty="0"/>
          </a:p>
        </p:txBody>
      </p:sp>
      <p:pic>
        <p:nvPicPr>
          <p:cNvPr id="3" name="Image 0" descr="Срез решения при t = 0.75 возле разрыва: базовая модель (0.44 %) совпадает с эталоном; 250 точек (16 %) — фронт сдвинут; 1 слой (28 %) — сглаженная волна; ReLU (65 %) — почти прямая линия">    </p:cNvPr>
          <p:cNvPicPr>
            <a:picLocks noChangeAspect="1"/>
          </p:cNvPicPr>
          <p:nvPr/>
        </p:nvPicPr>
        <p:blipFill>
          <a:blip r:embed="rId1"/>
          <a:srcRect l="-22623" r="-22623" t="0" b="0"/>
          <a:stretch/>
        </p:blipFill>
        <p:spPr>
          <a:xfrm>
            <a:off x="812800" y="1243310"/>
            <a:ext cx="10566400" cy="3302000"/>
          </a:xfrm>
          <a:prstGeom prst="rect">
            <a:avLst/>
          </a:prstGeom>
        </p:spPr>
      </p:pic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4761210"/>
          <a:ext cx="10553700" cy="718641"/>
        </p:xfrm>
        <a:graphic>
          <a:graphicData uri="http://schemas.openxmlformats.org/drawingml/2006/table">
            <a:tbl>
              <a:tblPr/>
              <a:tblGrid>
                <a:gridCol w="3482721"/>
                <a:gridCol w="3482721"/>
                <a:gridCol w="3588258"/>
              </a:tblGrid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250 точек — 16 %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1 слой — 28 %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ReLU — 65 %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форма верная, фронт смещён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ступенька заменена плавным склоном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почти прямая: вязкость не учитывается</a:t>
                      </a:r>
                      <a:endParaRPr lang="en-US" sz="13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5" name="Image 1" descr="lin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2800" y="6096000"/>
            <a:ext cx="10566400" cy="1270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812800" y="62890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27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Анализ гиперпараметров PINN для уравнения Бюргерса</a:t>
            </a:r>
            <a:endParaRPr lang="en-US" sz="1200" dirty="0"/>
          </a:p>
        </p:txBody>
      </p:sp>
      <p:sp>
        <p:nvSpPr>
          <p:cNvPr id="7" name="Text 2"/>
          <p:cNvSpPr/>
          <p:nvPr/>
        </p:nvSpPr>
        <p:spPr>
          <a:xfrm>
            <a:off x="10058400" y="62890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27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21 / 25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660400"/>
            <a:ext cx="10883392" cy="405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90"/>
              </a:lnSpc>
              <a:buNone/>
            </a:pPr>
            <a:r>
              <a:rPr lang="en-US" sz="2600" b="1" i="0" dirty="0">
                <a:solidFill>
                  <a:srgbClr val="1F386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Чувствительность к гиперпараметрам</a:t>
            </a:r>
            <a:endParaRPr lang="en-US" sz="2600" dirty="0"/>
          </a:p>
        </p:txBody>
      </p:sp>
      <p:pic>
        <p:nvPicPr>
          <p:cNvPr id="3" name="Image 0" descr="Горизонтальные столбцы: во сколько раз худший вариант параметра хуже лучшего. Число точек ×185, слои ×57, расстановка ×42, нейроны ×38, активация ×31, оптимизатор ×10, итерации Adam ×7.7, шаг lr ×7.2, точки границы и начального условия ×2.6, инициализация ×2.1. Разброс от seed без остановок L-BFGS ×10">    </p:cNvPr>
          <p:cNvPicPr>
            <a:picLocks noChangeAspect="1"/>
          </p:cNvPicPr>
          <p:nvPr/>
        </p:nvPicPr>
        <p:blipFill>
          <a:blip r:embed="rId1"/>
          <a:srcRect l="-17960" r="-17960" t="0" b="0"/>
          <a:stretch/>
        </p:blipFill>
        <p:spPr>
          <a:xfrm>
            <a:off x="812800" y="1243310"/>
            <a:ext cx="10566400" cy="3683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12800" y="5129510"/>
            <a:ext cx="1088339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Вывод.</a:t>
            </a:r>
            <a:r>
              <a:rPr lang="en-US" sz="1400" dirty="0">
                <a:solidFill>
                  <a:srgbClr val="1F293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Наибольшее влияние — число точек и архитектура, затем активация. Итерации Adam, шаг, инициализация и граничные точки влияют не сильнее, чем случайное начальное состояние.</a:t>
            </a:r>
            <a:endParaRPr lang="en-US" sz="1400" dirty="0"/>
          </a:p>
        </p:txBody>
      </p:sp>
      <p:pic>
        <p:nvPicPr>
          <p:cNvPr id="5" name="Image 1" descr="lin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2800" y="6096000"/>
            <a:ext cx="10566400" cy="127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2800" y="62890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27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Анализ гиперпараметров PINN для уравнения Бюргерса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10058400" y="62890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27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22 / 25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660400"/>
            <a:ext cx="10883392" cy="405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90"/>
              </a:lnSpc>
              <a:buNone/>
            </a:pPr>
            <a:r>
              <a:rPr lang="en-US" sz="2600" b="1" i="0" dirty="0">
                <a:solidFill>
                  <a:srgbClr val="1F386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Точность и время обучения</a:t>
            </a:r>
            <a:endParaRPr lang="en-US" sz="2600" dirty="0"/>
          </a:p>
        </p:txBody>
      </p:sp>
      <p:pic>
        <p:nvPicPr>
          <p:cNvPr id="3" name="Image 0" descr="Точечный график 99 конфигураций: L2-ошибка в логарифмическом масштабе против времени обучения. Базовая — 2.1 % за 0.9 мин; Sobol — 0.28 % за 1.3 мин; tanh GU 4×20 — 0.32 % за 1.3 мин; 5000 точек — 0.15 % за 1.8 мин; tanh GU 6×20 Adam 30k — 0.15 % за 2.8 мин; 10 000 точек — 0.09 % за 3.8 мин">    </p:cNvPr>
          <p:cNvPicPr>
            <a:picLocks noChangeAspect="1"/>
          </p:cNvPicPr>
          <p:nvPr/>
        </p:nvPicPr>
        <p:blipFill>
          <a:blip r:embed="rId1"/>
          <a:srcRect l="-617" r="-617" t="0" b="0"/>
          <a:stretch/>
        </p:blipFill>
        <p:spPr>
          <a:xfrm>
            <a:off x="812800" y="1243310"/>
            <a:ext cx="6985000" cy="3429000"/>
          </a:xfrm>
          <a:prstGeom prst="rect">
            <a:avLst/>
          </a:prstGeom>
        </p:spPr>
      </p:pic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64500" y="1256010"/>
          <a:ext cx="3314700" cy="2328763"/>
        </p:xfrm>
        <a:graphic>
          <a:graphicData uri="http://schemas.openxmlformats.org/drawingml/2006/table">
            <a:tbl>
              <a:tblPr/>
              <a:tblGrid>
                <a:gridCol w="1723644"/>
                <a:gridCol w="795528"/>
                <a:gridCol w="795528"/>
              </a:tblGrid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Конфигурация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L2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мин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база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2.1 %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0.91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Sobol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0.28 %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1.26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3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tanh, GU, [20] × 4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0.32 %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1.28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5000 точек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0.15 %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1.84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GU, [20] × 6, Adam 30k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0.15 %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2.78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10 000 точек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0.09 %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3.75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812800" y="4875510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Вывод.</a:t>
            </a:r>
            <a:r>
              <a:rPr lang="en-US" sz="1400" dirty="0">
                <a:solidFill>
                  <a:srgbClr val="1F293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Увеличение времени обучения на 20 секунд снижает ошибку в 6–7 раз; вдвое большее время — в 14 раз.</a:t>
            </a:r>
            <a:endParaRPr lang="en-US" sz="1400" dirty="0"/>
          </a:p>
        </p:txBody>
      </p:sp>
      <p:pic>
        <p:nvPicPr>
          <p:cNvPr id="6" name="Image 1" descr="lin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2800" y="6096000"/>
            <a:ext cx="10566400" cy="127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12800" y="62890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27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Анализ гиперпараметров PINN для уравнения Бюргерса</a:t>
            </a:r>
            <a:endParaRPr lang="en-US" sz="1200" dirty="0"/>
          </a:p>
        </p:txBody>
      </p:sp>
      <p:sp>
        <p:nvSpPr>
          <p:cNvPr id="8" name="Text 3"/>
          <p:cNvSpPr/>
          <p:nvPr/>
        </p:nvSpPr>
        <p:spPr>
          <a:xfrm>
            <a:off x="10058400" y="62890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27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23 / 25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660400"/>
            <a:ext cx="10883392" cy="405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90"/>
              </a:lnSpc>
              <a:buNone/>
            </a:pPr>
            <a:r>
              <a:rPr lang="en-US" sz="2600" b="1" i="0" dirty="0">
                <a:solidFill>
                  <a:srgbClr val="1F386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Сводная таблица</a:t>
            </a:r>
            <a:endParaRPr lang="en-US" sz="2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256010"/>
          <a:ext cx="10553700" cy="4205486"/>
        </p:xfrm>
        <a:graphic>
          <a:graphicData uri="http://schemas.openxmlformats.org/drawingml/2006/table">
            <a:tbl>
              <a:tblPr/>
              <a:tblGrid>
                <a:gridCol w="1899666"/>
                <a:gridCol w="1688592"/>
                <a:gridCol w="2638425"/>
                <a:gridCol w="2110740"/>
                <a:gridCol w="2216277"/>
              </a:tblGrid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Параметр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В примере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Лучший вариант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Худший вариант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Оценка примера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Число точек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2540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10 000 — 0.09 %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500 — 17 %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можно улучшить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30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Число слоёв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3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6–8 — 0.5 %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1 — 28 %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можно улучшить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Расстановка точек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Hammersley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Sobol — 0.28 %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сетка — 12 %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можно улучшить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Число нейронов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20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80 — 0.71 %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5 — 27 %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достаточно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Активация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tanh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tanh, LAAF — 2.0 %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ReLU — 65 %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оптимально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Оптимизатор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Adam → L-BFGS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RMSprop → L-BFGS — 0.90 %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Adam со спадом — 9.2 %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близко к оптимуму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Шаги L-BFGS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до сходимости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до сходимости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500 — 7.8 %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оптимально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Итерации Adam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15 000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30 000 — 0.40 %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0 — 3.1 %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не критично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4600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Шаг Adam, инициализация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1e-3, Glorot normal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—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нулевые веса — 100 %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не влияют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Точки границы / t = 0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80 / 160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80 / 160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граница 20 — 5.3 %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оптимально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Точность вычислений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float32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float64 — 0.60 %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—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можно улучшить</a:t>
                      </a:r>
                      <a:endParaRPr lang="en-US" sz="12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C3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5664696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E4651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L2 — среднее по 3 запускам (float64 — по 10); базовая конфигурация — 2.1 %.</a:t>
            </a:r>
            <a:endParaRPr lang="en-US" sz="1200" dirty="0"/>
          </a:p>
        </p:txBody>
      </p:sp>
      <p:pic>
        <p:nvPicPr>
          <p:cNvPr id="5" name="Image 0" descr="lin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6096000"/>
            <a:ext cx="10566400" cy="127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2800" y="62890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27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Анализ гиперпараметров PINN для уравнения Бюргерса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10058400" y="62890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27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24 / 25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660400"/>
            <a:ext cx="10883392" cy="405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90"/>
              </a:lnSpc>
              <a:buNone/>
            </a:pPr>
            <a:r>
              <a:rPr lang="en-US" sz="2600" b="1" i="0" dirty="0">
                <a:solidFill>
                  <a:srgbClr val="1F3864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Выводы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86172" y="1243310"/>
            <a:ext cx="10802400" cy="2235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0628" indent="-180628">
              <a:lnSpc>
                <a:spcPts val="2175"/>
              </a:lnSpc>
              <a:buSzPct val="100000"/>
              <a:buFontTx/>
              <a:buAutoNum type="arabicPeriod" startAt="1"/>
            </a:pPr>
            <a:r>
              <a:rPr lang="en-US" sz="1500" dirty="0">
                <a:solidFill>
                  <a:srgbClr val="1F293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Качество решения определяется разрешением фронта; наибольшее влияние оказывают число точек коллокации (×185) и глубина сети (×57).</a:t>
            </a:r>
            <a:endParaRPr lang="en-US" sz="1500" dirty="0"/>
          </a:p>
          <a:p>
            <a:pPr algn="l" marL="180628" indent="-180628">
              <a:lnSpc>
                <a:spcPts val="2175"/>
              </a:lnSpc>
              <a:buSzPct val="100000"/>
              <a:buFontTx/>
              <a:buAutoNum type="arabicPeriod" startAt="1"/>
            </a:pPr>
            <a:r>
              <a:rPr lang="en-US" sz="1500" dirty="0">
                <a:solidFill>
                  <a:srgbClr val="1F293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Оптимальная активация — tanh. sin, SiLU и GELU хуже в 4–10 раз; ReLU и ELU уравнение не решают. Для sigmoid необходима инициализация He uniform.</a:t>
            </a:r>
            <a:endParaRPr lang="en-US" sz="1500" dirty="0"/>
          </a:p>
          <a:p>
            <a:pPr algn="l" marL="180628" indent="-180628">
              <a:lnSpc>
                <a:spcPts val="2175"/>
              </a:lnSpc>
              <a:buSzPct val="100000"/>
              <a:buFontTx/>
              <a:buAutoNum type="arabicPeriod" startAt="1"/>
            </a:pPr>
            <a:r>
              <a:rPr lang="en-US" sz="1500" dirty="0">
                <a:solidFill>
                  <a:srgbClr val="1F293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Двухэтапное обучение обязательно: без L-BFGS ошибка 9–13 %. L-BFGS следует доводить до сходимости.</a:t>
            </a:r>
            <a:endParaRPr lang="en-US" sz="1500" dirty="0"/>
          </a:p>
          <a:p>
            <a:pPr algn="l" marL="180628" indent="-180628">
              <a:lnSpc>
                <a:spcPts val="2175"/>
              </a:lnSpc>
              <a:buSzPct val="100000"/>
              <a:buFontTx/>
              <a:buAutoNum type="arabicPeriod" startAt="1"/>
            </a:pPr>
            <a:r>
              <a:rPr lang="en-US" sz="1500" dirty="0">
                <a:solidFill>
                  <a:srgbClr val="1F293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Во float32 L-BFGS преждевременно останавливается в 19 % прогонов; float64 устраняет остановки.</a:t>
            </a:r>
            <a:endParaRPr lang="en-US" sz="1500" dirty="0"/>
          </a:p>
          <a:p>
            <a:pPr algn="l" marL="180628" indent="-180628">
              <a:lnSpc>
                <a:spcPts val="2175"/>
              </a:lnSpc>
              <a:buSzPct val="100000"/>
              <a:buFontTx/>
              <a:buAutoNum type="arabicPeriod" startAt="1"/>
            </a:pPr>
            <a:r>
              <a:rPr lang="en-US" sz="1500" dirty="0">
                <a:solidFill>
                  <a:srgbClr val="1F293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Конфигурация примера — быстрая отправная точка (≈ 1 мин, 2.1 %), но не оптимум: 19 из 99 конфигураций точнее 1 %.</a:t>
            </a:r>
            <a:endParaRPr lang="en-US" sz="1500" dirty="0"/>
          </a:p>
          <a:p>
            <a:pPr algn="l" marL="180628" indent="-180628">
              <a:lnSpc>
                <a:spcPts val="2175"/>
              </a:lnSpc>
              <a:buSzPct val="100000"/>
              <a:buFontTx/>
              <a:buAutoNum type="arabicPeriod" startAt="1"/>
            </a:pPr>
            <a:r>
              <a:rPr lang="en-US" sz="1500" dirty="0">
                <a:solidFill>
                  <a:srgbClr val="1F293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Лучшая конфигурация — tanh, Glorot uniform, [20] × 6, Adam 30 000 → L-BFGS: L2 = 0.15 % за 2.8 мин.</a:t>
            </a:r>
            <a:endParaRPr lang="en-US" sz="1500" dirty="0"/>
          </a:p>
        </p:txBody>
      </p:sp>
      <p:pic>
        <p:nvPicPr>
          <p:cNvPr id="4" name="Image 0" descr="lin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6096000"/>
            <a:ext cx="10566400" cy="127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2800" y="62890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27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Код и результаты: github.com/DenisAmell/deepxde-pinn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058400" y="62890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27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25 / 25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INN: анализ гиперпараметров (Бюргерс)">
  <a:themeElements>
    <a:clrScheme name="PINN: анализ гиперпараметров (Бюргерс)">
      <a:dk1>
        <a:srgbClr val="1F2933"/>
      </a:dk1>
      <a:lt1>
        <a:srgbClr val="FFFFFF"/>
      </a:lt1>
      <a:dk2>
        <a:srgbClr val="575F66"/>
      </a:dk2>
      <a:lt2>
        <a:srgbClr val="E9EAEB"/>
      </a:lt2>
      <a:accent1>
        <a:srgbClr val="1F3864"/>
      </a:accent1>
      <a:accent2>
        <a:srgbClr val="5A6270"/>
      </a:accent2>
      <a:accent3>
        <a:srgbClr val="3E4651"/>
      </a:accent3>
      <a:accent4>
        <a:srgbClr val="9AA0A6"/>
      </a:accent4>
      <a:accent5>
        <a:srgbClr val="797F85"/>
      </a:accent5>
      <a:accent6>
        <a:srgbClr val="9A9FA3"/>
      </a:accent6>
      <a:hlink>
        <a:srgbClr val="0563C1"/>
      </a:hlink>
      <a:folHlink>
        <a:srgbClr val="954F72"/>
      </a:folHlink>
    </a:clrScheme>
    <a:fontScheme name="PINN: анализ гиперпараметров (Бюргерс)">
      <a:majorFont>
        <a:latin typeface="PT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T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PINN: анализ гиперпараметров (Бюргерс)</dc:title>
  <dc:subject/>
  <dc:creator/>
  <cp:lastModifiedBy/>
  <cp:revision>1</cp:revision>
  <dcterms:created xsi:type="dcterms:W3CDTF">2026-10-24T12:40:15Z</dcterms:created>
  <dcterms:modified xsi:type="dcterms:W3CDTF">2026-10-24T12:40:15Z</dcterms:modified>
</cp:coreProperties>
</file>